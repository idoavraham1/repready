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Inter" panose="020B0604020202020204" charset="0"/>
      <p:regular r:id="rId9"/>
    </p:embeddedFont>
    <p:embeddedFont>
      <p:font typeface="Inter Bold" panose="020B0604020202020204" charset="0"/>
      <p:regular r:id="rId10"/>
    </p:embeddedFont>
    <p:embeddedFont>
      <p:font typeface="Telegraf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086600" y="238125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239000" y="253365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334000" y="7620000"/>
            <a:ext cx="7620000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A0A0B8"/>
                </a:solidFill>
                <a:latin typeface="Inter"/>
                <a:ea typeface="Inter"/>
                <a:cs typeface="Inter"/>
                <a:sym typeface="Inter"/>
              </a:rPr>
              <a:t>Live Call Coach for B2B Sales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34000" y="6381750"/>
            <a:ext cx="7620000" cy="1303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0"/>
              </a:lnSpc>
              <a:spcBef>
                <a:spcPct val="0"/>
              </a:spcBef>
            </a:pPr>
            <a:r>
              <a:rPr lang="en-US" sz="7200" u="none" strike="noStrik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RepReady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34000" y="8334375"/>
            <a:ext cx="7620000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A0A0B8"/>
                </a:solidFill>
                <a:latin typeface="Inter"/>
                <a:ea typeface="Inter"/>
                <a:cs typeface="Inter"/>
                <a:sym typeface="Inter"/>
              </a:rPr>
              <a:t>Ido Avraham</a:t>
            </a:r>
          </a:p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A0A0B8"/>
                </a:solidFill>
                <a:latin typeface="Inter"/>
                <a:ea typeface="Inter"/>
                <a:cs typeface="Inter"/>
                <a:sym typeface="Inter"/>
              </a:rPr>
              <a:t>B.Sc Computer Science | Ariel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39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334000" y="228600"/>
            <a:ext cx="7620000" cy="944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79"/>
              </a:lnSpc>
              <a:spcBef>
                <a:spcPct val="0"/>
              </a:spcBef>
            </a:pPr>
            <a:r>
              <a:rPr lang="en-US" sz="5199" u="none" strike="noStrik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Project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86500" y="1104900"/>
            <a:ext cx="5715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A0A0B8"/>
                </a:solidFill>
                <a:latin typeface="Inter"/>
                <a:ea typeface="Inter"/>
                <a:cs typeface="Inter"/>
                <a:sym typeface="Inter"/>
              </a:rPr>
              <a:t>Always know your next move.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71525" y="3143250"/>
            <a:ext cx="5391150" cy="4000500"/>
            <a:chOff x="0" y="0"/>
            <a:chExt cx="7188200" cy="5334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88200" cy="5334000"/>
            </a:xfrm>
            <a:custGeom>
              <a:avLst/>
              <a:gdLst/>
              <a:ahLst/>
              <a:cxnLst/>
              <a:rect l="l" t="t" r="r" b="b"/>
              <a:pathLst>
                <a:path w="7188200" h="5334000">
                  <a:moveTo>
                    <a:pt x="533400" y="0"/>
                  </a:moveTo>
                  <a:lnTo>
                    <a:pt x="6654800" y="0"/>
                  </a:lnTo>
                  <a:cubicBezTo>
                    <a:pt x="6949389" y="0"/>
                    <a:pt x="7188200" y="238811"/>
                    <a:pt x="7188200" y="533400"/>
                  </a:cubicBezTo>
                  <a:lnTo>
                    <a:pt x="7188200" y="4800600"/>
                  </a:lnTo>
                  <a:cubicBezTo>
                    <a:pt x="7188200" y="5095189"/>
                    <a:pt x="6949389" y="5334000"/>
                    <a:pt x="6654800" y="5334000"/>
                  </a:cubicBezTo>
                  <a:lnTo>
                    <a:pt x="533400" y="5334000"/>
                  </a:lnTo>
                  <a:cubicBezTo>
                    <a:pt x="238811" y="5334000"/>
                    <a:pt x="0" y="5095189"/>
                    <a:pt x="0" y="4800600"/>
                  </a:cubicBezTo>
                  <a:lnTo>
                    <a:pt x="0" y="533400"/>
                  </a:lnTo>
                  <a:cubicBezTo>
                    <a:pt x="0" y="238811"/>
                    <a:pt x="238811" y="0"/>
                    <a:pt x="533400" y="0"/>
                  </a:cubicBezTo>
                  <a:close/>
                </a:path>
              </a:pathLst>
            </a:custGeom>
            <a:solidFill>
              <a:srgbClr val="1A1A2E">
                <a:alpha val="84706"/>
              </a:srgbClr>
            </a:solidFill>
            <a:ln w="9525" cap="sq">
              <a:solidFill>
                <a:srgbClr val="6C63FF">
                  <a:alpha val="8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48425" y="3143250"/>
            <a:ext cx="5391150" cy="4000500"/>
            <a:chOff x="0" y="0"/>
            <a:chExt cx="7188200" cy="533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188200" cy="5334000"/>
            </a:xfrm>
            <a:custGeom>
              <a:avLst/>
              <a:gdLst/>
              <a:ahLst/>
              <a:cxnLst/>
              <a:rect l="l" t="t" r="r" b="b"/>
              <a:pathLst>
                <a:path w="7188200" h="5334000">
                  <a:moveTo>
                    <a:pt x="533400" y="0"/>
                  </a:moveTo>
                  <a:lnTo>
                    <a:pt x="6654800" y="0"/>
                  </a:lnTo>
                  <a:cubicBezTo>
                    <a:pt x="6949389" y="0"/>
                    <a:pt x="7188200" y="238811"/>
                    <a:pt x="7188200" y="533400"/>
                  </a:cubicBezTo>
                  <a:lnTo>
                    <a:pt x="7188200" y="4800600"/>
                  </a:lnTo>
                  <a:cubicBezTo>
                    <a:pt x="7188200" y="5095189"/>
                    <a:pt x="6949389" y="5334000"/>
                    <a:pt x="6654800" y="5334000"/>
                  </a:cubicBezTo>
                  <a:lnTo>
                    <a:pt x="533400" y="5334000"/>
                  </a:lnTo>
                  <a:cubicBezTo>
                    <a:pt x="238811" y="5334000"/>
                    <a:pt x="0" y="5095189"/>
                    <a:pt x="0" y="4800600"/>
                  </a:cubicBezTo>
                  <a:lnTo>
                    <a:pt x="0" y="533400"/>
                  </a:lnTo>
                  <a:cubicBezTo>
                    <a:pt x="0" y="238811"/>
                    <a:pt x="238811" y="0"/>
                    <a:pt x="533400" y="0"/>
                  </a:cubicBezTo>
                  <a:close/>
                </a:path>
              </a:pathLst>
            </a:custGeom>
            <a:solidFill>
              <a:srgbClr val="1A1A2E">
                <a:alpha val="84706"/>
              </a:srgbClr>
            </a:solidFill>
            <a:ln w="9525" cap="sq">
              <a:solidFill>
                <a:srgbClr val="6C63FF">
                  <a:alpha val="8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125325" y="3143250"/>
            <a:ext cx="5391150" cy="4000500"/>
            <a:chOff x="0" y="0"/>
            <a:chExt cx="7188200" cy="5334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188200" cy="5334000"/>
            </a:xfrm>
            <a:custGeom>
              <a:avLst/>
              <a:gdLst/>
              <a:ahLst/>
              <a:cxnLst/>
              <a:rect l="l" t="t" r="r" b="b"/>
              <a:pathLst>
                <a:path w="7188200" h="5334000">
                  <a:moveTo>
                    <a:pt x="533400" y="0"/>
                  </a:moveTo>
                  <a:lnTo>
                    <a:pt x="6654800" y="0"/>
                  </a:lnTo>
                  <a:cubicBezTo>
                    <a:pt x="6949389" y="0"/>
                    <a:pt x="7188200" y="238811"/>
                    <a:pt x="7188200" y="533400"/>
                  </a:cubicBezTo>
                  <a:lnTo>
                    <a:pt x="7188200" y="4800600"/>
                  </a:lnTo>
                  <a:cubicBezTo>
                    <a:pt x="7188200" y="5095189"/>
                    <a:pt x="6949389" y="5334000"/>
                    <a:pt x="6654800" y="5334000"/>
                  </a:cubicBezTo>
                  <a:lnTo>
                    <a:pt x="533400" y="5334000"/>
                  </a:lnTo>
                  <a:cubicBezTo>
                    <a:pt x="238811" y="5334000"/>
                    <a:pt x="0" y="5095189"/>
                    <a:pt x="0" y="4800600"/>
                  </a:cubicBezTo>
                  <a:lnTo>
                    <a:pt x="0" y="533400"/>
                  </a:lnTo>
                  <a:cubicBezTo>
                    <a:pt x="0" y="238811"/>
                    <a:pt x="238811" y="0"/>
                    <a:pt x="533400" y="0"/>
                  </a:cubicBezTo>
                  <a:close/>
                </a:path>
              </a:pathLst>
            </a:custGeom>
            <a:solidFill>
              <a:srgbClr val="1A1A2E">
                <a:alpha val="84706"/>
              </a:srgbClr>
            </a:solidFill>
            <a:ln w="9525" cap="sq">
              <a:solidFill>
                <a:srgbClr val="6C63FF">
                  <a:alpha val="8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62025" y="3228975"/>
            <a:ext cx="501015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47"/>
              </a:lnSpc>
              <a:spcBef>
                <a:spcPct val="0"/>
              </a:spcBef>
            </a:pPr>
            <a:r>
              <a:rPr lang="en-US" sz="2676" u="none" strike="noStrike">
                <a:solidFill>
                  <a:srgbClr val="6C63FF"/>
                </a:solidFill>
                <a:latin typeface="Telegraf"/>
                <a:ea typeface="Telegraf"/>
                <a:cs typeface="Telegraf"/>
                <a:sym typeface="Telegraf"/>
              </a:rPr>
              <a:t>⚠️  THE PROBLEM</a:t>
            </a:r>
          </a:p>
        </p:txBody>
      </p:sp>
      <p:sp>
        <p:nvSpPr>
          <p:cNvPr id="12" name="AutoShape 12"/>
          <p:cNvSpPr/>
          <p:nvPr/>
        </p:nvSpPr>
        <p:spPr>
          <a:xfrm>
            <a:off x="962025" y="3810000"/>
            <a:ext cx="5010150" cy="0"/>
          </a:xfrm>
          <a:prstGeom prst="line">
            <a:avLst/>
          </a:prstGeom>
          <a:ln w="19050" cap="rnd">
            <a:solidFill>
              <a:srgbClr val="6C63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962025" y="3819525"/>
            <a:ext cx="5010150" cy="2742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46"/>
              </a:lnSpc>
              <a:spcBef>
                <a:spcPct val="0"/>
              </a:spcBef>
            </a:pPr>
            <a:r>
              <a:rPr lang="en-US" sz="1966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  </a:t>
            </a:r>
            <a:r>
              <a:rPr lang="en-US" sz="1966" b="1" u="none" strike="noStrike" dirty="0">
                <a:solidFill>
                  <a:srgbClr val="C8C8D8"/>
                </a:solidFill>
                <a:latin typeface="Inter Bold"/>
                <a:ea typeface="Inter Bold"/>
                <a:cs typeface="Inter Bold"/>
                <a:sym typeface="Inter Bold"/>
              </a:rPr>
              <a:t>One mistake</a:t>
            </a:r>
            <a:r>
              <a:rPr lang="en-US" sz="1966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 on a call → deal lost</a:t>
            </a:r>
          </a:p>
          <a:p>
            <a:pPr marL="0" lvl="0" indent="0" algn="l">
              <a:lnSpc>
                <a:spcPts val="3146"/>
              </a:lnSpc>
              <a:spcBef>
                <a:spcPct val="0"/>
              </a:spcBef>
            </a:pPr>
            <a:endParaRPr lang="en-US" sz="1966" u="none" strike="noStrike" dirty="0">
              <a:solidFill>
                <a:srgbClr val="C8C8D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>
              <a:lnSpc>
                <a:spcPts val="3146"/>
              </a:lnSpc>
              <a:spcBef>
                <a:spcPct val="0"/>
              </a:spcBef>
            </a:pPr>
            <a:r>
              <a:rPr lang="en-US" sz="1966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  </a:t>
            </a:r>
            <a:r>
              <a:rPr lang="en-US" sz="1966" b="1" u="none" strike="noStrike" dirty="0">
                <a:solidFill>
                  <a:srgbClr val="C8C8D8"/>
                </a:solidFill>
                <a:latin typeface="Inter Bold"/>
                <a:ea typeface="Inter Bold"/>
                <a:cs typeface="Inter Bold"/>
                <a:sym typeface="Inter Bold"/>
              </a:rPr>
              <a:t>Long time to prepare</a:t>
            </a:r>
            <a:r>
              <a:rPr lang="en-US" sz="1966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 — digging through Confluence, CRM, docs</a:t>
            </a:r>
          </a:p>
          <a:p>
            <a:pPr marL="0" lvl="0" indent="0" algn="l">
              <a:lnSpc>
                <a:spcPts val="3146"/>
              </a:lnSpc>
              <a:spcBef>
                <a:spcPct val="0"/>
              </a:spcBef>
            </a:pPr>
            <a:endParaRPr lang="en-US" sz="1966" u="none" strike="noStrike" dirty="0">
              <a:solidFill>
                <a:srgbClr val="C8C8D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>
              <a:lnSpc>
                <a:spcPts val="3146"/>
              </a:lnSpc>
              <a:spcBef>
                <a:spcPct val="0"/>
              </a:spcBef>
            </a:pPr>
            <a:r>
              <a:rPr lang="en-US" sz="1966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  Reps </a:t>
            </a:r>
            <a:r>
              <a:rPr lang="en-US" sz="1966" b="1" u="none" strike="noStrike" dirty="0">
                <a:solidFill>
                  <a:srgbClr val="C8C8D8"/>
                </a:solidFill>
                <a:latin typeface="Inter Bold"/>
                <a:ea typeface="Inter Bold"/>
                <a:cs typeface="Inter Bold"/>
                <a:sym typeface="Inter Bold"/>
              </a:rPr>
              <a:t>freeze</a:t>
            </a:r>
            <a:r>
              <a:rPr lang="en-US" sz="1966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 on pricing &amp; compliance</a:t>
            </a:r>
          </a:p>
          <a:p>
            <a:pPr marL="0" lvl="0" indent="0" algn="l">
              <a:lnSpc>
                <a:spcPts val="3146"/>
              </a:lnSpc>
              <a:spcBef>
                <a:spcPct val="0"/>
              </a:spcBef>
            </a:pPr>
            <a:endParaRPr lang="en-US" sz="1966" u="none" strike="noStrike" dirty="0">
              <a:solidFill>
                <a:srgbClr val="C8C8D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638925" y="3228975"/>
            <a:ext cx="501015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47"/>
              </a:lnSpc>
              <a:spcBef>
                <a:spcPct val="0"/>
              </a:spcBef>
            </a:pPr>
            <a:r>
              <a:rPr lang="en-US" sz="2676" u="none" strike="noStrike">
                <a:solidFill>
                  <a:srgbClr val="6C63FF"/>
                </a:solidFill>
                <a:latin typeface="Telegraf"/>
                <a:ea typeface="Telegraf"/>
                <a:cs typeface="Telegraf"/>
                <a:sym typeface="Telegraf"/>
              </a:rPr>
              <a:t>🎯  USERS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638925" y="3810000"/>
            <a:ext cx="5010150" cy="0"/>
          </a:xfrm>
          <a:prstGeom prst="line">
            <a:avLst/>
          </a:prstGeom>
          <a:ln w="19050" cap="rnd">
            <a:solidFill>
              <a:srgbClr val="6C63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6638925" y="3829050"/>
            <a:ext cx="5010150" cy="2343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6"/>
              </a:lnSpc>
              <a:spcBef>
                <a:spcPct val="0"/>
              </a:spcBef>
            </a:pPr>
            <a:r>
              <a:rPr lang="en-US" sz="1910" b="1" u="none" strike="noStrike" dirty="0">
                <a:solidFill>
                  <a:srgbClr val="C8C8D8"/>
                </a:solidFill>
                <a:latin typeface="Inter Bold"/>
                <a:ea typeface="Inter Bold"/>
                <a:cs typeface="Inter Bold"/>
                <a:sym typeface="Inter Bold"/>
              </a:rPr>
              <a:t>Sales reps</a:t>
            </a:r>
          </a:p>
          <a:p>
            <a:pPr marL="0" lvl="0" indent="0" algn="l">
              <a:lnSpc>
                <a:spcPts val="3056"/>
              </a:lnSpc>
              <a:spcBef>
                <a:spcPct val="0"/>
              </a:spcBef>
            </a:pPr>
            <a:r>
              <a:rPr lang="en-US" sz="1910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  Prep before calls, coach live on the phone</a:t>
            </a:r>
          </a:p>
          <a:p>
            <a:pPr marL="0" lvl="0" indent="0" algn="l">
              <a:lnSpc>
                <a:spcPts val="3056"/>
              </a:lnSpc>
              <a:spcBef>
                <a:spcPct val="0"/>
              </a:spcBef>
            </a:pPr>
            <a:endParaRPr lang="en-US" sz="1910" u="none" strike="noStrike" dirty="0">
              <a:solidFill>
                <a:srgbClr val="C8C8D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>
              <a:lnSpc>
                <a:spcPts val="3056"/>
              </a:lnSpc>
              <a:spcBef>
                <a:spcPct val="0"/>
              </a:spcBef>
            </a:pPr>
            <a:r>
              <a:rPr lang="en-US" sz="1910" b="1" u="none" strike="noStrike" dirty="0">
                <a:solidFill>
                  <a:srgbClr val="C8C8D8"/>
                </a:solidFill>
                <a:latin typeface="Inter Bold"/>
                <a:ea typeface="Inter Bold"/>
                <a:cs typeface="Inter Bold"/>
                <a:sym typeface="Inter Bold"/>
              </a:rPr>
              <a:t>Managers / team leads</a:t>
            </a:r>
          </a:p>
          <a:p>
            <a:pPr marL="0" lvl="0" indent="0" algn="l">
              <a:lnSpc>
                <a:spcPts val="3056"/>
              </a:lnSpc>
              <a:spcBef>
                <a:spcPct val="0"/>
              </a:spcBef>
            </a:pPr>
            <a:r>
              <a:rPr lang="en-US" sz="1910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  Call-update emails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15825" y="3228975"/>
            <a:ext cx="501015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47"/>
              </a:lnSpc>
              <a:spcBef>
                <a:spcPct val="0"/>
              </a:spcBef>
            </a:pPr>
            <a:r>
              <a:rPr lang="en-US" sz="2676" u="none" strike="noStrike">
                <a:solidFill>
                  <a:srgbClr val="6C63FF"/>
                </a:solidFill>
                <a:latin typeface="Telegraf"/>
                <a:ea typeface="Telegraf"/>
                <a:cs typeface="Telegraf"/>
                <a:sym typeface="Telegraf"/>
              </a:rPr>
              <a:t>🤖  THE SOLUTION</a:t>
            </a:r>
          </a:p>
        </p:txBody>
      </p:sp>
      <p:sp>
        <p:nvSpPr>
          <p:cNvPr id="18" name="AutoShape 18"/>
          <p:cNvSpPr/>
          <p:nvPr/>
        </p:nvSpPr>
        <p:spPr>
          <a:xfrm>
            <a:off x="12315825" y="3810000"/>
            <a:ext cx="5010150" cy="0"/>
          </a:xfrm>
          <a:prstGeom prst="line">
            <a:avLst/>
          </a:prstGeom>
          <a:ln w="19050" cap="rnd">
            <a:solidFill>
              <a:srgbClr val="6C63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2315825" y="3819525"/>
            <a:ext cx="5010150" cy="3140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43"/>
              </a:lnSpc>
              <a:spcBef>
                <a:spcPct val="0"/>
              </a:spcBef>
            </a:pPr>
            <a:r>
              <a:rPr lang="en-US" sz="1964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  Web AI coach — </a:t>
            </a:r>
            <a:r>
              <a:rPr lang="en-US" sz="1964" b="1" u="none" strike="noStrike" dirty="0">
                <a:solidFill>
                  <a:srgbClr val="C8C8D8"/>
                </a:solidFill>
                <a:latin typeface="Inter Bold"/>
                <a:ea typeface="Inter Bold"/>
                <a:cs typeface="Inter Bold"/>
                <a:sym typeface="Inter Bold"/>
              </a:rPr>
              <a:t>approved KB only</a:t>
            </a:r>
          </a:p>
          <a:p>
            <a:pPr marL="0" lvl="0" indent="0" algn="l">
              <a:lnSpc>
                <a:spcPts val="3143"/>
              </a:lnSpc>
              <a:spcBef>
                <a:spcPct val="0"/>
              </a:spcBef>
            </a:pPr>
            <a:endParaRPr lang="en-US" sz="1964" b="1" u="none" strike="noStrike" dirty="0">
              <a:solidFill>
                <a:srgbClr val="C8C8D8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0" lvl="0" indent="0" algn="l">
              <a:lnSpc>
                <a:spcPts val="3143"/>
              </a:lnSpc>
              <a:spcBef>
                <a:spcPct val="0"/>
              </a:spcBef>
            </a:pPr>
            <a:r>
              <a:rPr lang="en-US" sz="1964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  </a:t>
            </a:r>
            <a:r>
              <a:rPr lang="en-US" sz="1964" b="1" u="none" strike="noStrike" dirty="0">
                <a:solidFill>
                  <a:srgbClr val="C8C8D8"/>
                </a:solidFill>
                <a:latin typeface="Inter Bold"/>
                <a:ea typeface="Inter Bold"/>
                <a:cs typeface="Inter Bold"/>
                <a:sym typeface="Inter Bold"/>
              </a:rPr>
              <a:t>PREP</a:t>
            </a:r>
            <a:r>
              <a:rPr lang="en-US" sz="1964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 — prospect, objections, product facts</a:t>
            </a:r>
          </a:p>
          <a:p>
            <a:pPr marL="0" lvl="0" indent="0" algn="l">
              <a:lnSpc>
                <a:spcPts val="3143"/>
              </a:lnSpc>
              <a:spcBef>
                <a:spcPct val="0"/>
              </a:spcBef>
            </a:pPr>
            <a:endParaRPr lang="en-US" sz="1964" u="none" strike="noStrike" dirty="0">
              <a:solidFill>
                <a:srgbClr val="C8C8D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>
              <a:lnSpc>
                <a:spcPts val="3143"/>
              </a:lnSpc>
              <a:spcBef>
                <a:spcPct val="0"/>
              </a:spcBef>
            </a:pPr>
            <a:r>
              <a:rPr lang="en-US" sz="1964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  </a:t>
            </a:r>
            <a:r>
              <a:rPr lang="en-US" sz="1964" b="1" u="none" strike="noStrike" dirty="0">
                <a:solidFill>
                  <a:srgbClr val="C8C8D8"/>
                </a:solidFill>
                <a:latin typeface="Inter Bold"/>
                <a:ea typeface="Inter Bold"/>
                <a:cs typeface="Inter Bold"/>
                <a:sym typeface="Inter Bold"/>
              </a:rPr>
              <a:t>LIVE</a:t>
            </a:r>
            <a:r>
              <a:rPr lang="en-US" sz="1964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 — 4 bullets + Next move</a:t>
            </a:r>
          </a:p>
          <a:p>
            <a:pPr marL="0" lvl="0" indent="0" algn="l">
              <a:lnSpc>
                <a:spcPts val="3143"/>
              </a:lnSpc>
              <a:spcBef>
                <a:spcPct val="0"/>
              </a:spcBef>
            </a:pPr>
            <a:endParaRPr lang="en-US" sz="1964" u="none" strike="noStrike" dirty="0">
              <a:solidFill>
                <a:srgbClr val="C8C8D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>
              <a:lnSpc>
                <a:spcPts val="3143"/>
              </a:lnSpc>
              <a:spcBef>
                <a:spcPct val="0"/>
              </a:spcBef>
            </a:pPr>
            <a:r>
              <a:rPr lang="en-US" sz="1964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  Tools: calendar · company search ·email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62000" y="9144000"/>
            <a:ext cx="16764000" cy="762000"/>
            <a:chOff x="0" y="0"/>
            <a:chExt cx="22352000" cy="1016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2352000" cy="1016000"/>
            </a:xfrm>
            <a:custGeom>
              <a:avLst/>
              <a:gdLst/>
              <a:ahLst/>
              <a:cxnLst/>
              <a:rect l="l" t="t" r="r" b="b"/>
              <a:pathLst>
                <a:path w="22352000" h="1016000">
                  <a:moveTo>
                    <a:pt x="114300" y="0"/>
                  </a:moveTo>
                  <a:lnTo>
                    <a:pt x="22237700" y="0"/>
                  </a:lnTo>
                  <a:cubicBezTo>
                    <a:pt x="22300826" y="0"/>
                    <a:pt x="22352000" y="45488"/>
                    <a:pt x="22352000" y="101600"/>
                  </a:cubicBezTo>
                  <a:lnTo>
                    <a:pt x="22352000" y="914400"/>
                  </a:lnTo>
                  <a:cubicBezTo>
                    <a:pt x="22352000" y="970512"/>
                    <a:pt x="22300826" y="1016000"/>
                    <a:pt x="22237700" y="1016000"/>
                  </a:cubicBezTo>
                  <a:lnTo>
                    <a:pt x="114300" y="1016000"/>
                  </a:lnTo>
                  <a:cubicBezTo>
                    <a:pt x="51174" y="1016000"/>
                    <a:pt x="0" y="970512"/>
                    <a:pt x="0" y="914400"/>
                  </a:cubicBezTo>
                  <a:lnTo>
                    <a:pt x="0" y="101600"/>
                  </a:lnTo>
                  <a:cubicBezTo>
                    <a:pt x="0" y="45488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1A1A2E">
                <a:alpha val="69804"/>
              </a:srgbClr>
            </a:solidFill>
            <a:ln w="9525" cap="sq">
              <a:solidFill>
                <a:srgbClr val="6C63FF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52500" y="9382125"/>
            <a:ext cx="38100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74"/>
              </a:lnSpc>
              <a:spcBef>
                <a:spcPct val="0"/>
              </a:spcBef>
            </a:pPr>
            <a:r>
              <a:rPr lang="en-US" sz="1338" u="none" strike="noStrike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⚡  One question replaces long hours of digging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143500" y="9382125"/>
            <a:ext cx="3810000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🗣️  Reps keep talking — don't freeze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34500" y="9382125"/>
            <a:ext cx="3810000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📎  Grounded answers with citations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525500" y="9382125"/>
            <a:ext cx="3810000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📝  Missing knowledge auto-logged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eet_betty">
            <a:hlinkClick r:id="" action="ppaction://media"/>
            <a:extLst>
              <a:ext uri="{FF2B5EF4-FFF2-40B4-BE49-F238E27FC236}">
                <a16:creationId xmlns:a16="http://schemas.microsoft.com/office/drawing/2014/main" id="{E8F57FE3-B1C9-F018-4837-B6645F8F493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17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" t="-1049" r="-1507" b="-10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334000" y="419100"/>
            <a:ext cx="7620000" cy="944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79"/>
              </a:lnSpc>
              <a:spcBef>
                <a:spcPct val="0"/>
              </a:spcBef>
            </a:pPr>
            <a:r>
              <a:rPr lang="en-US" sz="5199" u="none" strike="noStrik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Technologies Used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86500" y="1325245"/>
            <a:ext cx="5715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A0A0B8"/>
                </a:solidFill>
                <a:latin typeface="Inter"/>
                <a:ea typeface="Inter"/>
                <a:cs typeface="Inter"/>
                <a:sym typeface="Inter"/>
              </a:rPr>
              <a:t>Tech stack powering RepReady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62000" y="4572000"/>
            <a:ext cx="4048125" cy="1143000"/>
            <a:chOff x="0" y="0"/>
            <a:chExt cx="5397500" cy="1524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97500" cy="1524000"/>
            </a:xfrm>
            <a:custGeom>
              <a:avLst/>
              <a:gdLst/>
              <a:ahLst/>
              <a:cxnLst/>
              <a:rect l="l" t="t" r="r" b="b"/>
              <a:pathLst>
                <a:path w="5397500" h="1524000">
                  <a:moveTo>
                    <a:pt x="508000" y="0"/>
                  </a:moveTo>
                  <a:lnTo>
                    <a:pt x="4889500" y="0"/>
                  </a:lnTo>
                  <a:cubicBezTo>
                    <a:pt x="5170061" y="0"/>
                    <a:pt x="5397500" y="68232"/>
                    <a:pt x="5397500" y="152400"/>
                  </a:cubicBezTo>
                  <a:lnTo>
                    <a:pt x="5397500" y="1371600"/>
                  </a:lnTo>
                  <a:cubicBezTo>
                    <a:pt x="5397500" y="1455768"/>
                    <a:pt x="5170061" y="1524000"/>
                    <a:pt x="4889500" y="1524000"/>
                  </a:cubicBezTo>
                  <a:lnTo>
                    <a:pt x="508000" y="1524000"/>
                  </a:lnTo>
                  <a:cubicBezTo>
                    <a:pt x="227439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227439" y="0"/>
                    <a:pt x="508000" y="0"/>
                  </a:cubicBezTo>
                  <a:close/>
                </a:path>
              </a:pathLst>
            </a:custGeom>
            <a:solidFill>
              <a:srgbClr val="1A1A2E">
                <a:alpha val="80000"/>
              </a:srgbClr>
            </a:solidFill>
            <a:ln w="9525" cap="sq">
              <a:solidFill>
                <a:srgbClr val="6C63FF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52500" y="4686300"/>
            <a:ext cx="3667125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6C63FF"/>
                </a:solidFill>
                <a:latin typeface="Telegraf"/>
                <a:ea typeface="Telegraf"/>
                <a:cs typeface="Telegraf"/>
                <a:sym typeface="Telegraf"/>
              </a:rPr>
              <a:t>🐍  PYTHON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2500" y="5048250"/>
            <a:ext cx="3667125" cy="57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Core backend — Flask server, Bedrock client, routing logic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000625" y="4572000"/>
            <a:ext cx="4048125" cy="1143000"/>
            <a:chOff x="0" y="0"/>
            <a:chExt cx="5397500" cy="1524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397500" cy="1524000"/>
            </a:xfrm>
            <a:custGeom>
              <a:avLst/>
              <a:gdLst/>
              <a:ahLst/>
              <a:cxnLst/>
              <a:rect l="l" t="t" r="r" b="b"/>
              <a:pathLst>
                <a:path w="5397500" h="1524000">
                  <a:moveTo>
                    <a:pt x="508000" y="0"/>
                  </a:moveTo>
                  <a:lnTo>
                    <a:pt x="4889500" y="0"/>
                  </a:lnTo>
                  <a:cubicBezTo>
                    <a:pt x="5170061" y="0"/>
                    <a:pt x="5397500" y="68232"/>
                    <a:pt x="5397500" y="152400"/>
                  </a:cubicBezTo>
                  <a:lnTo>
                    <a:pt x="5397500" y="1371600"/>
                  </a:lnTo>
                  <a:cubicBezTo>
                    <a:pt x="5397500" y="1455768"/>
                    <a:pt x="5170061" y="1524000"/>
                    <a:pt x="4889500" y="1524000"/>
                  </a:cubicBezTo>
                  <a:lnTo>
                    <a:pt x="508000" y="1524000"/>
                  </a:lnTo>
                  <a:cubicBezTo>
                    <a:pt x="227439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227439" y="0"/>
                    <a:pt x="508000" y="0"/>
                  </a:cubicBezTo>
                  <a:close/>
                </a:path>
              </a:pathLst>
            </a:custGeom>
            <a:solidFill>
              <a:srgbClr val="1A1A2E">
                <a:alpha val="80000"/>
              </a:srgbClr>
            </a:solidFill>
            <a:ln w="9525" cap="sq">
              <a:solidFill>
                <a:srgbClr val="6C63FF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191125" y="4686300"/>
            <a:ext cx="3667125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6C63FF"/>
                </a:solidFill>
                <a:latin typeface="Telegraf"/>
                <a:ea typeface="Telegraf"/>
                <a:cs typeface="Telegraf"/>
                <a:sym typeface="Telegraf"/>
              </a:rPr>
              <a:t>🌐  FLASK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91125" y="5048250"/>
            <a:ext cx="3667125" cy="586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Web UI + POST /chat endpoin</a:t>
            </a:r>
            <a:r>
              <a:rPr lang="en-US" sz="1599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t dashboard</a:t>
            </a:r>
            <a:endParaRPr lang="en-US" sz="1599" u="none" strike="noStrike" dirty="0">
              <a:solidFill>
                <a:srgbClr val="C8C8D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9239250" y="4572000"/>
            <a:ext cx="4048125" cy="1143000"/>
            <a:chOff x="0" y="0"/>
            <a:chExt cx="5397500" cy="1524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397500" cy="1524000"/>
            </a:xfrm>
            <a:custGeom>
              <a:avLst/>
              <a:gdLst/>
              <a:ahLst/>
              <a:cxnLst/>
              <a:rect l="l" t="t" r="r" b="b"/>
              <a:pathLst>
                <a:path w="5397500" h="1524000">
                  <a:moveTo>
                    <a:pt x="508000" y="0"/>
                  </a:moveTo>
                  <a:lnTo>
                    <a:pt x="4889500" y="0"/>
                  </a:lnTo>
                  <a:cubicBezTo>
                    <a:pt x="5170061" y="0"/>
                    <a:pt x="5397500" y="68232"/>
                    <a:pt x="5397500" y="152400"/>
                  </a:cubicBezTo>
                  <a:lnTo>
                    <a:pt x="5397500" y="1371600"/>
                  </a:lnTo>
                  <a:cubicBezTo>
                    <a:pt x="5397500" y="1455768"/>
                    <a:pt x="5170061" y="1524000"/>
                    <a:pt x="4889500" y="1524000"/>
                  </a:cubicBezTo>
                  <a:lnTo>
                    <a:pt x="508000" y="1524000"/>
                  </a:lnTo>
                  <a:cubicBezTo>
                    <a:pt x="227439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227439" y="0"/>
                    <a:pt x="508000" y="0"/>
                  </a:cubicBezTo>
                  <a:close/>
                </a:path>
              </a:pathLst>
            </a:custGeom>
            <a:solidFill>
              <a:srgbClr val="1A1A2E">
                <a:alpha val="80000"/>
              </a:srgbClr>
            </a:solidFill>
            <a:ln w="9525" cap="sq">
              <a:solidFill>
                <a:srgbClr val="6C63FF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429750" y="4686300"/>
            <a:ext cx="3667125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6C63FF"/>
                </a:solidFill>
                <a:latin typeface="Telegraf"/>
                <a:ea typeface="Telegraf"/>
                <a:cs typeface="Telegraf"/>
                <a:sym typeface="Telegraf"/>
              </a:rPr>
              <a:t>📚  RAG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29750" y="5048250"/>
            <a:ext cx="3667125" cy="586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AWS Bedrock KB — S3 docs prod</a:t>
            </a:r>
            <a:r>
              <a:rPr lang="en-US" sz="1599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ucts + customer notes</a:t>
            </a:r>
            <a:endParaRPr lang="en-US" sz="1599" u="none" strike="noStrike" dirty="0">
              <a:solidFill>
                <a:srgbClr val="C8C8D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3477875" y="4572000"/>
            <a:ext cx="4048125" cy="1143000"/>
            <a:chOff x="0" y="0"/>
            <a:chExt cx="5397500" cy="1524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397500" cy="1524000"/>
            </a:xfrm>
            <a:custGeom>
              <a:avLst/>
              <a:gdLst/>
              <a:ahLst/>
              <a:cxnLst/>
              <a:rect l="l" t="t" r="r" b="b"/>
              <a:pathLst>
                <a:path w="5397500" h="1524000">
                  <a:moveTo>
                    <a:pt x="508000" y="0"/>
                  </a:moveTo>
                  <a:lnTo>
                    <a:pt x="4889500" y="0"/>
                  </a:lnTo>
                  <a:cubicBezTo>
                    <a:pt x="5170061" y="0"/>
                    <a:pt x="5397500" y="68232"/>
                    <a:pt x="5397500" y="152400"/>
                  </a:cubicBezTo>
                  <a:lnTo>
                    <a:pt x="5397500" y="1371600"/>
                  </a:lnTo>
                  <a:cubicBezTo>
                    <a:pt x="5397500" y="1455768"/>
                    <a:pt x="5170061" y="1524000"/>
                    <a:pt x="4889500" y="1524000"/>
                  </a:cubicBezTo>
                  <a:lnTo>
                    <a:pt x="508000" y="1524000"/>
                  </a:lnTo>
                  <a:cubicBezTo>
                    <a:pt x="227439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227439" y="0"/>
                    <a:pt x="508000" y="0"/>
                  </a:cubicBezTo>
                  <a:close/>
                </a:path>
              </a:pathLst>
            </a:custGeom>
            <a:solidFill>
              <a:srgbClr val="1A1A2E">
                <a:alpha val="80000"/>
              </a:srgbClr>
            </a:solidFill>
            <a:ln w="9525" cap="sq">
              <a:solidFill>
                <a:srgbClr val="6C63FF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3668375" y="4686300"/>
            <a:ext cx="3667125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6C63FF"/>
                </a:solidFill>
                <a:latin typeface="Telegraf"/>
                <a:ea typeface="Telegraf"/>
                <a:cs typeface="Telegraf"/>
                <a:sym typeface="Telegraf"/>
              </a:rPr>
              <a:t>⚡  MCP / TOOLS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668375" y="5048250"/>
            <a:ext cx="3667125" cy="57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Lambda action groups — calendar, company search, email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62000" y="6000750"/>
            <a:ext cx="4048125" cy="1143000"/>
            <a:chOff x="0" y="0"/>
            <a:chExt cx="5397500" cy="1524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397500" cy="1524000"/>
            </a:xfrm>
            <a:custGeom>
              <a:avLst/>
              <a:gdLst/>
              <a:ahLst/>
              <a:cxnLst/>
              <a:rect l="l" t="t" r="r" b="b"/>
              <a:pathLst>
                <a:path w="5397500" h="1524000">
                  <a:moveTo>
                    <a:pt x="508000" y="0"/>
                  </a:moveTo>
                  <a:lnTo>
                    <a:pt x="4889500" y="0"/>
                  </a:lnTo>
                  <a:cubicBezTo>
                    <a:pt x="5170061" y="0"/>
                    <a:pt x="5397500" y="68232"/>
                    <a:pt x="5397500" y="152400"/>
                  </a:cubicBezTo>
                  <a:lnTo>
                    <a:pt x="5397500" y="1371600"/>
                  </a:lnTo>
                  <a:cubicBezTo>
                    <a:pt x="5397500" y="1455768"/>
                    <a:pt x="5170061" y="1524000"/>
                    <a:pt x="4889500" y="1524000"/>
                  </a:cubicBezTo>
                  <a:lnTo>
                    <a:pt x="508000" y="1524000"/>
                  </a:lnTo>
                  <a:cubicBezTo>
                    <a:pt x="227439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227439" y="0"/>
                    <a:pt x="508000" y="0"/>
                  </a:cubicBezTo>
                  <a:close/>
                </a:path>
              </a:pathLst>
            </a:custGeom>
            <a:solidFill>
              <a:srgbClr val="1A1A2E">
                <a:alpha val="80000"/>
              </a:srgbClr>
            </a:solidFill>
            <a:ln w="9525" cap="sq">
              <a:solidFill>
                <a:srgbClr val="6C63FF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52500" y="6115050"/>
            <a:ext cx="3667125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6C63FF"/>
                </a:solidFill>
                <a:latin typeface="Telegraf"/>
                <a:ea typeface="Telegraf"/>
                <a:cs typeface="Telegraf"/>
                <a:sym typeface="Telegraf"/>
              </a:rPr>
              <a:t>🐳  DOCKER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2500" y="6477000"/>
            <a:ext cx="3667125" cy="57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Containerized deployment on EC2 via Docker Hub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000625" y="6000750"/>
            <a:ext cx="4048125" cy="1143000"/>
            <a:chOff x="0" y="0"/>
            <a:chExt cx="5397500" cy="1524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397500" cy="1524000"/>
            </a:xfrm>
            <a:custGeom>
              <a:avLst/>
              <a:gdLst/>
              <a:ahLst/>
              <a:cxnLst/>
              <a:rect l="l" t="t" r="r" b="b"/>
              <a:pathLst>
                <a:path w="5397500" h="1524000">
                  <a:moveTo>
                    <a:pt x="508000" y="0"/>
                  </a:moveTo>
                  <a:lnTo>
                    <a:pt x="4889500" y="0"/>
                  </a:lnTo>
                  <a:cubicBezTo>
                    <a:pt x="5170061" y="0"/>
                    <a:pt x="5397500" y="68232"/>
                    <a:pt x="5397500" y="152400"/>
                  </a:cubicBezTo>
                  <a:lnTo>
                    <a:pt x="5397500" y="1371600"/>
                  </a:lnTo>
                  <a:cubicBezTo>
                    <a:pt x="5397500" y="1455768"/>
                    <a:pt x="5170061" y="1524000"/>
                    <a:pt x="4889500" y="1524000"/>
                  </a:cubicBezTo>
                  <a:lnTo>
                    <a:pt x="508000" y="1524000"/>
                  </a:lnTo>
                  <a:cubicBezTo>
                    <a:pt x="227439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227439" y="0"/>
                    <a:pt x="508000" y="0"/>
                  </a:cubicBezTo>
                  <a:close/>
                </a:path>
              </a:pathLst>
            </a:custGeom>
            <a:solidFill>
              <a:srgbClr val="1A1A2E">
                <a:alpha val="80000"/>
              </a:srgbClr>
            </a:solidFill>
            <a:ln w="9525" cap="sq">
              <a:solidFill>
                <a:srgbClr val="6C63FF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5191125" y="6115050"/>
            <a:ext cx="3667125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6C63FF"/>
                </a:solidFill>
                <a:latin typeface="Telegraf"/>
                <a:ea typeface="Telegraf"/>
                <a:cs typeface="Telegraf"/>
                <a:sym typeface="Telegraf"/>
              </a:rPr>
              <a:t>🔀  GIT / GITHUB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91125" y="6477000"/>
            <a:ext cx="3667125" cy="57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Source control for app, prompts, KB content, config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239250" y="6000750"/>
            <a:ext cx="4048125" cy="1143000"/>
            <a:chOff x="0" y="0"/>
            <a:chExt cx="5397500" cy="1524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397500" cy="1524000"/>
            </a:xfrm>
            <a:custGeom>
              <a:avLst/>
              <a:gdLst/>
              <a:ahLst/>
              <a:cxnLst/>
              <a:rect l="l" t="t" r="r" b="b"/>
              <a:pathLst>
                <a:path w="5397500" h="1524000">
                  <a:moveTo>
                    <a:pt x="508000" y="0"/>
                  </a:moveTo>
                  <a:lnTo>
                    <a:pt x="4889500" y="0"/>
                  </a:lnTo>
                  <a:cubicBezTo>
                    <a:pt x="5170061" y="0"/>
                    <a:pt x="5397500" y="68232"/>
                    <a:pt x="5397500" y="152400"/>
                  </a:cubicBezTo>
                  <a:lnTo>
                    <a:pt x="5397500" y="1371600"/>
                  </a:lnTo>
                  <a:cubicBezTo>
                    <a:pt x="5397500" y="1455768"/>
                    <a:pt x="5170061" y="1524000"/>
                    <a:pt x="4889500" y="1524000"/>
                  </a:cubicBezTo>
                  <a:lnTo>
                    <a:pt x="508000" y="1524000"/>
                  </a:lnTo>
                  <a:cubicBezTo>
                    <a:pt x="227439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227439" y="0"/>
                    <a:pt x="508000" y="0"/>
                  </a:cubicBezTo>
                  <a:close/>
                </a:path>
              </a:pathLst>
            </a:custGeom>
            <a:solidFill>
              <a:srgbClr val="1A1A2E">
                <a:alpha val="80000"/>
              </a:srgbClr>
            </a:solidFill>
            <a:ln w="9525" cap="sq">
              <a:solidFill>
                <a:srgbClr val="6C63FF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429750" y="6115050"/>
            <a:ext cx="3667125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6C63FF"/>
                </a:solidFill>
                <a:latin typeface="Telegraf"/>
                <a:ea typeface="Telegraf"/>
                <a:cs typeface="Telegraf"/>
                <a:sym typeface="Telegraf"/>
              </a:rPr>
              <a:t>🧠  AMAZON BEDROCK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29750" y="6477000"/>
            <a:ext cx="3667125" cy="27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Agent orchestration , KB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334000" y="409575"/>
            <a:ext cx="7620000" cy="960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22"/>
              </a:lnSpc>
              <a:spcBef>
                <a:spcPct val="0"/>
              </a:spcBef>
            </a:pPr>
            <a:r>
              <a:rPr lang="en-US" sz="5301" u="none" strike="noStrik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System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86500" y="1313035"/>
            <a:ext cx="5715000" cy="30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7"/>
              </a:lnSpc>
              <a:spcBef>
                <a:spcPct val="0"/>
              </a:spcBef>
            </a:pPr>
            <a:r>
              <a:rPr lang="en-US" sz="1819" u="none" strike="noStrike">
                <a:solidFill>
                  <a:srgbClr val="A0A0B8"/>
                </a:solidFill>
                <a:latin typeface="Inter"/>
                <a:ea typeface="Inter"/>
                <a:cs typeface="Inter"/>
                <a:sym typeface="Inter"/>
              </a:rPr>
              <a:t>End-to-end request flow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333500" y="3333750"/>
            <a:ext cx="2667000" cy="1333500"/>
            <a:chOff x="0" y="0"/>
            <a:chExt cx="3556000" cy="1778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556000" cy="1778000"/>
            </a:xfrm>
            <a:custGeom>
              <a:avLst/>
              <a:gdLst/>
              <a:ahLst/>
              <a:cxnLst/>
              <a:rect l="l" t="t" r="r" b="b"/>
              <a:pathLst>
                <a:path w="3556000" h="1778000">
                  <a:moveTo>
                    <a:pt x="177800" y="0"/>
                  </a:moveTo>
                  <a:lnTo>
                    <a:pt x="3378200" y="0"/>
                  </a:lnTo>
                  <a:cubicBezTo>
                    <a:pt x="3476396" y="0"/>
                    <a:pt x="3556000" y="79604"/>
                    <a:pt x="3556000" y="177800"/>
                  </a:cubicBezTo>
                  <a:lnTo>
                    <a:pt x="3556000" y="1600200"/>
                  </a:lnTo>
                  <a:cubicBezTo>
                    <a:pt x="3556000" y="1698396"/>
                    <a:pt x="3476396" y="1778000"/>
                    <a:pt x="3378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1A1A2E">
                <a:alpha val="80000"/>
              </a:srgbClr>
            </a:solidFill>
            <a:ln w="9525" cap="sq">
              <a:solidFill>
                <a:srgbClr val="6C63FF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28750" y="3524250"/>
            <a:ext cx="24765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6C63FF"/>
                </a:solidFill>
                <a:latin typeface="Telegraf"/>
                <a:ea typeface="Telegraf"/>
                <a:cs typeface="Telegraf"/>
                <a:sym typeface="Telegraf"/>
              </a:rPr>
              <a:t>🖥️  BROWSER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28750" y="3924300"/>
            <a:ext cx="2476500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Sales rep types</a:t>
            </a:r>
          </a:p>
          <a:p>
            <a:pPr marL="0" lvl="0" indent="0" algn="ctr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question + context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572000" y="3333750"/>
            <a:ext cx="2667000" cy="1333500"/>
            <a:chOff x="0" y="0"/>
            <a:chExt cx="3556000" cy="1778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56000" cy="1778000"/>
            </a:xfrm>
            <a:custGeom>
              <a:avLst/>
              <a:gdLst/>
              <a:ahLst/>
              <a:cxnLst/>
              <a:rect l="l" t="t" r="r" b="b"/>
              <a:pathLst>
                <a:path w="3556000" h="1778000">
                  <a:moveTo>
                    <a:pt x="177800" y="0"/>
                  </a:moveTo>
                  <a:lnTo>
                    <a:pt x="3378200" y="0"/>
                  </a:lnTo>
                  <a:cubicBezTo>
                    <a:pt x="3476396" y="0"/>
                    <a:pt x="3556000" y="79604"/>
                    <a:pt x="3556000" y="177800"/>
                  </a:cubicBezTo>
                  <a:lnTo>
                    <a:pt x="3556000" y="1600200"/>
                  </a:lnTo>
                  <a:cubicBezTo>
                    <a:pt x="3556000" y="1698396"/>
                    <a:pt x="3476396" y="1778000"/>
                    <a:pt x="3378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1A1A2E">
                <a:alpha val="80000"/>
              </a:srgbClr>
            </a:solidFill>
            <a:ln w="9525" cap="sq">
              <a:solidFill>
                <a:srgbClr val="6C63FF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667250" y="3524250"/>
            <a:ext cx="24765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6C63FF"/>
                </a:solidFill>
                <a:latin typeface="Telegraf"/>
                <a:ea typeface="Telegraf"/>
                <a:cs typeface="Telegraf"/>
                <a:sym typeface="Telegraf"/>
              </a:rPr>
              <a:t>⚙️  FLASK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67250" y="3924300"/>
            <a:ext cx="2476500" cy="44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Routing tags</a:t>
            </a:r>
          </a:p>
          <a:p>
            <a:pPr marL="0" lvl="0" indent="0" algn="ctr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 dirty="0" err="1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InvokeAgent</a:t>
            </a:r>
            <a:r>
              <a:rPr lang="en-US" sz="1299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810500" y="3333750"/>
            <a:ext cx="2667000" cy="1333500"/>
            <a:chOff x="0" y="0"/>
            <a:chExt cx="3556000" cy="1778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56000" cy="1778000"/>
            </a:xfrm>
            <a:custGeom>
              <a:avLst/>
              <a:gdLst/>
              <a:ahLst/>
              <a:cxnLst/>
              <a:rect l="l" t="t" r="r" b="b"/>
              <a:pathLst>
                <a:path w="3556000" h="1778000">
                  <a:moveTo>
                    <a:pt x="177800" y="0"/>
                  </a:moveTo>
                  <a:lnTo>
                    <a:pt x="3378200" y="0"/>
                  </a:lnTo>
                  <a:cubicBezTo>
                    <a:pt x="3476396" y="0"/>
                    <a:pt x="3556000" y="79604"/>
                    <a:pt x="3556000" y="177800"/>
                  </a:cubicBezTo>
                  <a:lnTo>
                    <a:pt x="3556000" y="1600200"/>
                  </a:lnTo>
                  <a:cubicBezTo>
                    <a:pt x="3556000" y="1698396"/>
                    <a:pt x="3476396" y="1778000"/>
                    <a:pt x="3378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1A1A2E">
                <a:alpha val="80000"/>
              </a:srgbClr>
            </a:solidFill>
            <a:ln w="9525" cap="sq">
              <a:solidFill>
                <a:srgbClr val="6C63FF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905750" y="3524250"/>
            <a:ext cx="24765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6C63FF"/>
                </a:solidFill>
                <a:latin typeface="Telegraf"/>
                <a:ea typeface="Telegraf"/>
                <a:cs typeface="Telegraf"/>
                <a:sym typeface="Telegraf"/>
              </a:rPr>
              <a:t>🧠  BEDROCK AGENT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05750" y="3924300"/>
            <a:ext cx="2476500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Orchestration LLM</a:t>
            </a:r>
          </a:p>
          <a:p>
            <a:pPr marL="0" lvl="0" indent="0" algn="ctr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KB or Tool decision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1126053" y="3333750"/>
            <a:ext cx="2667000" cy="1333500"/>
            <a:chOff x="0" y="0"/>
            <a:chExt cx="3556000" cy="1778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556000" cy="1778000"/>
            </a:xfrm>
            <a:custGeom>
              <a:avLst/>
              <a:gdLst/>
              <a:ahLst/>
              <a:cxnLst/>
              <a:rect l="l" t="t" r="r" b="b"/>
              <a:pathLst>
                <a:path w="3556000" h="1778000">
                  <a:moveTo>
                    <a:pt x="177800" y="0"/>
                  </a:moveTo>
                  <a:lnTo>
                    <a:pt x="3378200" y="0"/>
                  </a:lnTo>
                  <a:cubicBezTo>
                    <a:pt x="3476396" y="0"/>
                    <a:pt x="3556000" y="79604"/>
                    <a:pt x="3556000" y="177800"/>
                  </a:cubicBezTo>
                  <a:lnTo>
                    <a:pt x="3556000" y="1600200"/>
                  </a:lnTo>
                  <a:cubicBezTo>
                    <a:pt x="3556000" y="1698396"/>
                    <a:pt x="3476396" y="1778000"/>
                    <a:pt x="3378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1A1A2E">
                <a:alpha val="80000"/>
              </a:srgbClr>
            </a:solidFill>
            <a:ln w="9525" cap="sq">
              <a:solidFill>
                <a:srgbClr val="6C63FF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144250" y="3524250"/>
            <a:ext cx="24765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6C63FF"/>
                </a:solidFill>
                <a:latin typeface="Telegraf"/>
                <a:ea typeface="Telegraf"/>
                <a:cs typeface="Telegraf"/>
                <a:sym typeface="Telegraf"/>
              </a:rPr>
              <a:t>📚  KB / TOOLS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144250" y="3924300"/>
            <a:ext cx="2476500" cy="212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S3 docs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4287500" y="3333750"/>
            <a:ext cx="2667000" cy="1333500"/>
            <a:chOff x="0" y="0"/>
            <a:chExt cx="3556000" cy="1778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556000" cy="1778000"/>
            </a:xfrm>
            <a:custGeom>
              <a:avLst/>
              <a:gdLst/>
              <a:ahLst/>
              <a:cxnLst/>
              <a:rect l="l" t="t" r="r" b="b"/>
              <a:pathLst>
                <a:path w="3556000" h="1778000">
                  <a:moveTo>
                    <a:pt x="177800" y="0"/>
                  </a:moveTo>
                  <a:lnTo>
                    <a:pt x="3378200" y="0"/>
                  </a:lnTo>
                  <a:cubicBezTo>
                    <a:pt x="3476396" y="0"/>
                    <a:pt x="3556000" y="79604"/>
                    <a:pt x="3556000" y="177800"/>
                  </a:cubicBezTo>
                  <a:lnTo>
                    <a:pt x="3556000" y="1600200"/>
                  </a:lnTo>
                  <a:cubicBezTo>
                    <a:pt x="3556000" y="1698396"/>
                    <a:pt x="3476396" y="1778000"/>
                    <a:pt x="3378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1A1A2E">
                <a:alpha val="80000"/>
              </a:srgbClr>
            </a:solidFill>
            <a:ln w="9525" cap="sq">
              <a:solidFill>
                <a:srgbClr val="6C63FF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4382750" y="3524250"/>
            <a:ext cx="24765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6C63FF"/>
                </a:solidFill>
                <a:latin typeface="Telegraf"/>
                <a:ea typeface="Telegraf"/>
                <a:cs typeface="Telegraf"/>
                <a:sym typeface="Telegraf"/>
              </a:rPr>
              <a:t>💬  RESPONSE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382750" y="3924300"/>
            <a:ext cx="2476500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Streamed bullets</a:t>
            </a:r>
          </a:p>
          <a:p>
            <a:pPr marL="0" lvl="0" indent="0" algn="ctr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Prep or Live format</a:t>
            </a:r>
          </a:p>
        </p:txBody>
      </p:sp>
      <p:sp>
        <p:nvSpPr>
          <p:cNvPr id="25" name="AutoShape 25"/>
          <p:cNvSpPr/>
          <p:nvPr/>
        </p:nvSpPr>
        <p:spPr>
          <a:xfrm>
            <a:off x="4048125" y="4000500"/>
            <a:ext cx="476250" cy="0"/>
          </a:xfrm>
          <a:prstGeom prst="line">
            <a:avLst/>
          </a:prstGeom>
          <a:ln w="19050" cap="rnd">
            <a:solidFill>
              <a:srgbClr val="6C63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26"/>
          <p:cNvSpPr/>
          <p:nvPr/>
        </p:nvSpPr>
        <p:spPr>
          <a:xfrm>
            <a:off x="7286625" y="4000500"/>
            <a:ext cx="476250" cy="0"/>
          </a:xfrm>
          <a:prstGeom prst="line">
            <a:avLst/>
          </a:prstGeom>
          <a:ln w="19050" cap="rnd">
            <a:solidFill>
              <a:srgbClr val="6C63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7" name="AutoShape 27"/>
          <p:cNvSpPr/>
          <p:nvPr/>
        </p:nvSpPr>
        <p:spPr>
          <a:xfrm>
            <a:off x="10525125" y="4000500"/>
            <a:ext cx="476250" cy="0"/>
          </a:xfrm>
          <a:prstGeom prst="line">
            <a:avLst/>
          </a:prstGeom>
          <a:ln w="19050" cap="rnd">
            <a:solidFill>
              <a:srgbClr val="6C63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" name="AutoShape 28"/>
          <p:cNvSpPr/>
          <p:nvPr/>
        </p:nvSpPr>
        <p:spPr>
          <a:xfrm>
            <a:off x="13763625" y="4000500"/>
            <a:ext cx="476250" cy="0"/>
          </a:xfrm>
          <a:prstGeom prst="line">
            <a:avLst/>
          </a:prstGeom>
          <a:ln w="19050" cap="rnd">
            <a:solidFill>
              <a:srgbClr val="6C63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29" name="Group 29"/>
          <p:cNvGrpSpPr/>
          <p:nvPr/>
        </p:nvGrpSpPr>
        <p:grpSpPr>
          <a:xfrm>
            <a:off x="952500" y="5524500"/>
            <a:ext cx="5334000" cy="1905000"/>
            <a:chOff x="0" y="0"/>
            <a:chExt cx="7112000" cy="2540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112000" cy="2540000"/>
            </a:xfrm>
            <a:custGeom>
              <a:avLst/>
              <a:gdLst/>
              <a:ahLst/>
              <a:cxnLst/>
              <a:rect l="l" t="t" r="r" b="b"/>
              <a:pathLst>
                <a:path w="7112000" h="2540000">
                  <a:moveTo>
                    <a:pt x="254000" y="0"/>
                  </a:moveTo>
                  <a:lnTo>
                    <a:pt x="6858000" y="0"/>
                  </a:lnTo>
                  <a:cubicBezTo>
                    <a:pt x="6998281" y="0"/>
                    <a:pt x="7112000" y="113720"/>
                    <a:pt x="7112000" y="254000"/>
                  </a:cubicBezTo>
                  <a:lnTo>
                    <a:pt x="7112000" y="2286000"/>
                  </a:lnTo>
                  <a:cubicBezTo>
                    <a:pt x="7112000" y="2426280"/>
                    <a:pt x="6998281" y="2540000"/>
                    <a:pt x="6858000" y="2540000"/>
                  </a:cubicBezTo>
                  <a:lnTo>
                    <a:pt x="254000" y="2540000"/>
                  </a:lnTo>
                  <a:cubicBezTo>
                    <a:pt x="113720" y="2540000"/>
                    <a:pt x="0" y="2426280"/>
                    <a:pt x="0" y="228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1A1A2E">
                <a:alpha val="80000"/>
              </a:srgbClr>
            </a:solidFill>
            <a:ln w="9525" cap="sq">
              <a:solidFill>
                <a:srgbClr val="6C63FF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143000" y="5629275"/>
            <a:ext cx="4953000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6C63FF"/>
                </a:solidFill>
                <a:latin typeface="Telegraf"/>
                <a:ea typeface="Telegraf"/>
                <a:cs typeface="Telegraf"/>
                <a:sym typeface="Telegraf"/>
              </a:rPr>
              <a:t>📡  HOW IT WORKS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3000" y="6019800"/>
            <a:ext cx="4953000" cy="1003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  Rep sends question + mode + product + prospect</a:t>
            </a:r>
          </a:p>
          <a:p>
            <a:pPr marL="0" lvl="0" indent="0" algn="l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  Flask embeds routing tags in </a:t>
            </a:r>
            <a:r>
              <a:rPr lang="en-US" sz="1400" u="none" strike="noStrike" dirty="0" err="1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inputText</a:t>
            </a:r>
            <a:endParaRPr lang="en-US" sz="1400" u="none" strike="noStrike" dirty="0">
              <a:solidFill>
                <a:srgbClr val="C8C8D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  Bedrock Agent decides: KB lookup or tool call</a:t>
            </a:r>
          </a:p>
          <a:p>
            <a:pPr marL="0" lvl="0" indent="0" algn="l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  Response generated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6477000" y="5524500"/>
            <a:ext cx="5334000" cy="1905000"/>
            <a:chOff x="0" y="0"/>
            <a:chExt cx="7112000" cy="2540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112000" cy="2540000"/>
            </a:xfrm>
            <a:custGeom>
              <a:avLst/>
              <a:gdLst/>
              <a:ahLst/>
              <a:cxnLst/>
              <a:rect l="l" t="t" r="r" b="b"/>
              <a:pathLst>
                <a:path w="7112000" h="2540000">
                  <a:moveTo>
                    <a:pt x="254000" y="0"/>
                  </a:moveTo>
                  <a:lnTo>
                    <a:pt x="6858000" y="0"/>
                  </a:lnTo>
                  <a:cubicBezTo>
                    <a:pt x="6998281" y="0"/>
                    <a:pt x="7112000" y="113720"/>
                    <a:pt x="7112000" y="254000"/>
                  </a:cubicBezTo>
                  <a:lnTo>
                    <a:pt x="7112000" y="2286000"/>
                  </a:lnTo>
                  <a:cubicBezTo>
                    <a:pt x="7112000" y="2426280"/>
                    <a:pt x="6998281" y="2540000"/>
                    <a:pt x="6858000" y="2540000"/>
                  </a:cubicBezTo>
                  <a:lnTo>
                    <a:pt x="254000" y="2540000"/>
                  </a:lnTo>
                  <a:cubicBezTo>
                    <a:pt x="113720" y="2540000"/>
                    <a:pt x="0" y="2426280"/>
                    <a:pt x="0" y="228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1A1A2E">
                <a:alpha val="80000"/>
              </a:srgbClr>
            </a:solidFill>
            <a:ln w="9525" cap="sq">
              <a:solidFill>
                <a:srgbClr val="6C63FF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6667500" y="5629275"/>
            <a:ext cx="4953000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6C63FF"/>
                </a:solidFill>
                <a:latin typeface="Telegraf"/>
                <a:ea typeface="Telegraf"/>
                <a:cs typeface="Telegraf"/>
                <a:sym typeface="Telegraf"/>
              </a:rPr>
              <a:t>📚  WHERE RAG IS USED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67500" y="6019800"/>
            <a:ext cx="4953000" cy="983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  Person prep → Customer Notes from KB only</a:t>
            </a:r>
          </a:p>
          <a:p>
            <a:pPr marL="0" lvl="0" indent="0" algn="l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  Product questions → docs filtered by metadata</a:t>
            </a:r>
          </a:p>
          <a:p>
            <a:pPr marL="0" lvl="0" indent="0" algn="l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  No web search for person data — KB is truth</a:t>
            </a:r>
          </a:p>
          <a:p>
            <a:pPr marL="0" lvl="0" indent="0" algn="l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  Metadata JSON sidecars scope retrieval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2001500" y="5524500"/>
            <a:ext cx="5334000" cy="1905000"/>
            <a:chOff x="0" y="0"/>
            <a:chExt cx="7112000" cy="2540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112000" cy="2540000"/>
            </a:xfrm>
            <a:custGeom>
              <a:avLst/>
              <a:gdLst/>
              <a:ahLst/>
              <a:cxnLst/>
              <a:rect l="l" t="t" r="r" b="b"/>
              <a:pathLst>
                <a:path w="7112000" h="2540000">
                  <a:moveTo>
                    <a:pt x="254000" y="0"/>
                  </a:moveTo>
                  <a:lnTo>
                    <a:pt x="6858000" y="0"/>
                  </a:lnTo>
                  <a:cubicBezTo>
                    <a:pt x="6998281" y="0"/>
                    <a:pt x="7112000" y="113720"/>
                    <a:pt x="7112000" y="254000"/>
                  </a:cubicBezTo>
                  <a:lnTo>
                    <a:pt x="7112000" y="2286000"/>
                  </a:lnTo>
                  <a:cubicBezTo>
                    <a:pt x="7112000" y="2426280"/>
                    <a:pt x="6998281" y="2540000"/>
                    <a:pt x="6858000" y="2540000"/>
                  </a:cubicBezTo>
                  <a:lnTo>
                    <a:pt x="254000" y="2540000"/>
                  </a:lnTo>
                  <a:cubicBezTo>
                    <a:pt x="113720" y="2540000"/>
                    <a:pt x="0" y="2426280"/>
                    <a:pt x="0" y="228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solidFill>
              <a:srgbClr val="1A1A2E">
                <a:alpha val="80000"/>
              </a:srgbClr>
            </a:solidFill>
            <a:ln w="9525" cap="sq">
              <a:solidFill>
                <a:srgbClr val="6C63FF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2192000" y="5629275"/>
            <a:ext cx="4953000" cy="335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6C63FF"/>
                </a:solidFill>
                <a:latin typeface="Telegraf"/>
                <a:ea typeface="Telegraf"/>
                <a:cs typeface="Telegraf"/>
                <a:sym typeface="Telegraf"/>
              </a:rPr>
              <a:t>🔧  TOOLS (LAMBDA)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192000" y="6019800"/>
            <a:ext cx="4953000" cy="983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  get_todays_calls → Google Calendar</a:t>
            </a:r>
          </a:p>
          <a:p>
            <a:pPr marL="0" lvl="0" indent="0" algn="l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  get_company_context → Tavily Search API</a:t>
            </a:r>
          </a:p>
          <a:p>
            <a:pPr marL="0" lvl="0" indent="0" algn="l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  send_call_update_email → Resend API</a:t>
            </a:r>
          </a:p>
          <a:p>
            <a:pPr marL="0" lvl="0" indent="0" algn="l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  Agent decides when to invoke each tool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334000" y="409575"/>
            <a:ext cx="7620000" cy="960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22"/>
              </a:lnSpc>
              <a:spcBef>
                <a:spcPct val="0"/>
              </a:spcBef>
            </a:pPr>
            <a:r>
              <a:rPr lang="en-US" sz="5301" u="none" strike="noStrik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Live Demo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86500" y="1332192"/>
            <a:ext cx="5715000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199" u="none" strike="noStrike">
                <a:solidFill>
                  <a:srgbClr val="6C63FF"/>
                </a:solidFill>
                <a:latin typeface="Inter"/>
                <a:ea typeface="Inter"/>
                <a:cs typeface="Inter"/>
                <a:sym typeface="Inter"/>
              </a:rPr>
              <a:t>http://50.17.43.22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43000" y="1905000"/>
            <a:ext cx="7620000" cy="1143000"/>
            <a:chOff x="0" y="0"/>
            <a:chExt cx="10160000" cy="1524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160000" cy="1524000"/>
            </a:xfrm>
            <a:custGeom>
              <a:avLst/>
              <a:gdLst/>
              <a:ahLst/>
              <a:cxnLst/>
              <a:rect l="l" t="t" r="r" b="b"/>
              <a:pathLst>
                <a:path w="10160000" h="1524000">
                  <a:moveTo>
                    <a:pt x="152400" y="0"/>
                  </a:moveTo>
                  <a:lnTo>
                    <a:pt x="10007600" y="0"/>
                  </a:lnTo>
                  <a:cubicBezTo>
                    <a:pt x="10091769" y="0"/>
                    <a:pt x="10160000" y="68232"/>
                    <a:pt x="10160000" y="152400"/>
                  </a:cubicBezTo>
                  <a:lnTo>
                    <a:pt x="10160000" y="1371600"/>
                  </a:lnTo>
                  <a:cubicBezTo>
                    <a:pt x="10160000" y="1455768"/>
                    <a:pt x="10091769" y="1524000"/>
                    <a:pt x="10007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A1A2E">
                <a:alpha val="80000"/>
              </a:srgbClr>
            </a:solidFill>
            <a:ln w="9525" cap="sq">
              <a:solidFill>
                <a:srgbClr val="6C63FF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33500" y="2000250"/>
            <a:ext cx="72390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6C63FF"/>
                </a:solidFill>
                <a:latin typeface="Telegraf"/>
                <a:ea typeface="Telegraf"/>
                <a:cs typeface="Telegraf"/>
                <a:sym typeface="Telegraf"/>
              </a:rPr>
              <a:t>1.  OPEN APP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3500" y="2333625"/>
            <a:ext cx="7239000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Navigate to public URL, show landing page</a:t>
            </a:r>
          </a:p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Prep/Live toggle + product pill + prospect sidebar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143000" y="3143250"/>
            <a:ext cx="7620000" cy="1143000"/>
            <a:chOff x="0" y="0"/>
            <a:chExt cx="10160000" cy="1524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160000" cy="1524000"/>
            </a:xfrm>
            <a:custGeom>
              <a:avLst/>
              <a:gdLst/>
              <a:ahLst/>
              <a:cxnLst/>
              <a:rect l="l" t="t" r="r" b="b"/>
              <a:pathLst>
                <a:path w="10160000" h="1524000">
                  <a:moveTo>
                    <a:pt x="152400" y="0"/>
                  </a:moveTo>
                  <a:lnTo>
                    <a:pt x="10007600" y="0"/>
                  </a:lnTo>
                  <a:cubicBezTo>
                    <a:pt x="10091769" y="0"/>
                    <a:pt x="10160000" y="68232"/>
                    <a:pt x="10160000" y="152400"/>
                  </a:cubicBezTo>
                  <a:lnTo>
                    <a:pt x="10160000" y="1371600"/>
                  </a:lnTo>
                  <a:cubicBezTo>
                    <a:pt x="10160000" y="1455768"/>
                    <a:pt x="10091769" y="1524000"/>
                    <a:pt x="10007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A1A2E">
                <a:alpha val="80000"/>
              </a:srgbClr>
            </a:solidFill>
            <a:ln w="9525" cap="sq">
              <a:solidFill>
                <a:srgbClr val="6C63FF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33500" y="3238500"/>
            <a:ext cx="72390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6C63FF"/>
                </a:solidFill>
                <a:latin typeface="Telegraf"/>
                <a:ea typeface="Telegraf"/>
                <a:cs typeface="Telegraf"/>
                <a:sym typeface="Telegraf"/>
              </a:rPr>
              <a:t>2.  CREATE PROSPECT CHAT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33500" y="3571875"/>
            <a:ext cx="7239000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New chat → Alex Rivera, </a:t>
            </a:r>
            <a:r>
              <a:rPr lang="en-US" sz="1299" u="none" strike="noStrike" dirty="0" err="1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CloudScale</a:t>
            </a:r>
            <a:endParaRPr lang="en-US" sz="1299" u="none" strike="noStrike" dirty="0">
              <a:solidFill>
                <a:srgbClr val="C8C8D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Show suggested question chips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43000" y="4381500"/>
            <a:ext cx="7620000" cy="1143000"/>
            <a:chOff x="0" y="0"/>
            <a:chExt cx="10160000" cy="1524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160000" cy="1524000"/>
            </a:xfrm>
            <a:custGeom>
              <a:avLst/>
              <a:gdLst/>
              <a:ahLst/>
              <a:cxnLst/>
              <a:rect l="l" t="t" r="r" b="b"/>
              <a:pathLst>
                <a:path w="10160000" h="1524000">
                  <a:moveTo>
                    <a:pt x="152400" y="0"/>
                  </a:moveTo>
                  <a:lnTo>
                    <a:pt x="10007600" y="0"/>
                  </a:lnTo>
                  <a:cubicBezTo>
                    <a:pt x="10091769" y="0"/>
                    <a:pt x="10160000" y="68232"/>
                    <a:pt x="10160000" y="152400"/>
                  </a:cubicBezTo>
                  <a:lnTo>
                    <a:pt x="10160000" y="1371600"/>
                  </a:lnTo>
                  <a:cubicBezTo>
                    <a:pt x="10160000" y="1455768"/>
                    <a:pt x="10091769" y="1524000"/>
                    <a:pt x="10007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A1A2E">
                <a:alpha val="80000"/>
              </a:srgbClr>
            </a:solidFill>
            <a:ln w="9525" cap="sq">
              <a:solidFill>
                <a:srgbClr val="6C63FF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33500" y="4476750"/>
            <a:ext cx="72390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6C63FF"/>
                </a:solidFill>
                <a:latin typeface="Telegraf"/>
                <a:ea typeface="Telegraf"/>
                <a:cs typeface="Telegraf"/>
                <a:sym typeface="Telegraf"/>
              </a:rPr>
              <a:t>3.  RAG — PERSON PREP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33500" y="4810125"/>
            <a:ext cx="7239000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Ask about Alex → grounded bullets from Customer Notes</a:t>
            </a:r>
          </a:p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KB only, no web search for person data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143000" y="5619750"/>
            <a:ext cx="7620000" cy="1143000"/>
            <a:chOff x="0" y="0"/>
            <a:chExt cx="10160000" cy="1524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160000" cy="1524000"/>
            </a:xfrm>
            <a:custGeom>
              <a:avLst/>
              <a:gdLst/>
              <a:ahLst/>
              <a:cxnLst/>
              <a:rect l="l" t="t" r="r" b="b"/>
              <a:pathLst>
                <a:path w="10160000" h="1524000">
                  <a:moveTo>
                    <a:pt x="152400" y="0"/>
                  </a:moveTo>
                  <a:lnTo>
                    <a:pt x="10007600" y="0"/>
                  </a:lnTo>
                  <a:cubicBezTo>
                    <a:pt x="10091769" y="0"/>
                    <a:pt x="10160000" y="68232"/>
                    <a:pt x="10160000" y="152400"/>
                  </a:cubicBezTo>
                  <a:lnTo>
                    <a:pt x="10160000" y="1371600"/>
                  </a:lnTo>
                  <a:cubicBezTo>
                    <a:pt x="10160000" y="1455768"/>
                    <a:pt x="10091769" y="1524000"/>
                    <a:pt x="10007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A1A2E">
                <a:alpha val="80000"/>
              </a:srgbClr>
            </a:solidFill>
            <a:ln w="9525" cap="sq">
              <a:solidFill>
                <a:srgbClr val="6C63FF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333500" y="5715000"/>
            <a:ext cx="72390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6C63FF"/>
                </a:solidFill>
                <a:latin typeface="Telegraf"/>
                <a:ea typeface="Telegraf"/>
                <a:cs typeface="Telegraf"/>
                <a:sym typeface="Telegraf"/>
              </a:rPr>
              <a:t>4.  RAG — PRODUCT PREP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33500" y="6048375"/>
            <a:ext cx="7239000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Ask about objections → KB product docs + prospect notes</a:t>
            </a:r>
          </a:p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Filtered by active product metadata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143000" y="6858000"/>
            <a:ext cx="7620000" cy="1143000"/>
            <a:chOff x="0" y="0"/>
            <a:chExt cx="10160000" cy="1524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160000" cy="1524000"/>
            </a:xfrm>
            <a:custGeom>
              <a:avLst/>
              <a:gdLst/>
              <a:ahLst/>
              <a:cxnLst/>
              <a:rect l="l" t="t" r="r" b="b"/>
              <a:pathLst>
                <a:path w="10160000" h="1524000">
                  <a:moveTo>
                    <a:pt x="152400" y="0"/>
                  </a:moveTo>
                  <a:lnTo>
                    <a:pt x="10007600" y="0"/>
                  </a:lnTo>
                  <a:cubicBezTo>
                    <a:pt x="10091769" y="0"/>
                    <a:pt x="10160000" y="68232"/>
                    <a:pt x="10160000" y="152400"/>
                  </a:cubicBezTo>
                  <a:lnTo>
                    <a:pt x="10160000" y="1371600"/>
                  </a:lnTo>
                  <a:cubicBezTo>
                    <a:pt x="10160000" y="1455768"/>
                    <a:pt x="10091769" y="1524000"/>
                    <a:pt x="10007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A1A2E">
                <a:alpha val="80000"/>
              </a:srgbClr>
            </a:solidFill>
            <a:ln w="9525" cap="sq">
              <a:solidFill>
                <a:srgbClr val="6C63FF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33500" y="6953250"/>
            <a:ext cx="72390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6C63FF"/>
                </a:solidFill>
                <a:latin typeface="Telegraf"/>
                <a:ea typeface="Telegraf"/>
                <a:cs typeface="Telegraf"/>
                <a:sym typeface="Telegraf"/>
              </a:rPr>
              <a:t>5.  TOOL — COMPANY SEARCH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33500" y="7286625"/>
            <a:ext cx="7239000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Ask about CloudScale → Tavily background</a:t>
            </a:r>
          </a:p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Contrast: person = KB, company = Tavily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525000" y="1905000"/>
            <a:ext cx="7620000" cy="1143000"/>
            <a:chOff x="0" y="0"/>
            <a:chExt cx="10160000" cy="1524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160000" cy="1524000"/>
            </a:xfrm>
            <a:custGeom>
              <a:avLst/>
              <a:gdLst/>
              <a:ahLst/>
              <a:cxnLst/>
              <a:rect l="l" t="t" r="r" b="b"/>
              <a:pathLst>
                <a:path w="10160000" h="1524000">
                  <a:moveTo>
                    <a:pt x="152400" y="0"/>
                  </a:moveTo>
                  <a:lnTo>
                    <a:pt x="10007600" y="0"/>
                  </a:lnTo>
                  <a:cubicBezTo>
                    <a:pt x="10091769" y="0"/>
                    <a:pt x="10160000" y="68232"/>
                    <a:pt x="10160000" y="152400"/>
                  </a:cubicBezTo>
                  <a:lnTo>
                    <a:pt x="10160000" y="1371600"/>
                  </a:lnTo>
                  <a:cubicBezTo>
                    <a:pt x="10160000" y="1455768"/>
                    <a:pt x="10091769" y="1524000"/>
                    <a:pt x="10007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A1A2E">
                <a:alpha val="80000"/>
              </a:srgbClr>
            </a:solidFill>
            <a:ln w="9525" cap="sq">
              <a:solidFill>
                <a:srgbClr val="6C63FF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9715500" y="2000250"/>
            <a:ext cx="72390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6C63FF"/>
                </a:solidFill>
                <a:latin typeface="Telegraf"/>
                <a:ea typeface="Telegraf"/>
                <a:cs typeface="Telegraf"/>
                <a:sym typeface="Telegraf"/>
              </a:rPr>
              <a:t>6.  TOOL — CALENDAR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15500" y="2333625"/>
            <a:ext cx="7239000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Ask today's calls → Google Calendar events</a:t>
            </a:r>
          </a:p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Verify against calendar tab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525000" y="3143250"/>
            <a:ext cx="7620000" cy="1143000"/>
            <a:chOff x="0" y="0"/>
            <a:chExt cx="10160000" cy="1524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160000" cy="1524000"/>
            </a:xfrm>
            <a:custGeom>
              <a:avLst/>
              <a:gdLst/>
              <a:ahLst/>
              <a:cxnLst/>
              <a:rect l="l" t="t" r="r" b="b"/>
              <a:pathLst>
                <a:path w="10160000" h="1524000">
                  <a:moveTo>
                    <a:pt x="152400" y="0"/>
                  </a:moveTo>
                  <a:lnTo>
                    <a:pt x="10007600" y="0"/>
                  </a:lnTo>
                  <a:cubicBezTo>
                    <a:pt x="10091769" y="0"/>
                    <a:pt x="10160000" y="68232"/>
                    <a:pt x="10160000" y="152400"/>
                  </a:cubicBezTo>
                  <a:lnTo>
                    <a:pt x="10160000" y="1371600"/>
                  </a:lnTo>
                  <a:cubicBezTo>
                    <a:pt x="10160000" y="1455768"/>
                    <a:pt x="10091769" y="1524000"/>
                    <a:pt x="10007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A1A2E">
                <a:alpha val="80000"/>
              </a:srgbClr>
            </a:solidFill>
            <a:ln w="9525" cap="sq">
              <a:solidFill>
                <a:srgbClr val="6C63FF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715500" y="3238500"/>
            <a:ext cx="72390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6C63FF"/>
                </a:solidFill>
                <a:latin typeface="Telegraf"/>
                <a:ea typeface="Telegraf"/>
                <a:cs typeface="Telegraf"/>
                <a:sym typeface="Telegraf"/>
              </a:rPr>
              <a:t>7.  TOOL — EMAIL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715500" y="3571875"/>
            <a:ext cx="7239000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Send call update → Resend API</a:t>
            </a:r>
          </a:p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Verify email arrives in Gmail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525000" y="4381500"/>
            <a:ext cx="7620000" cy="1143000"/>
            <a:chOff x="0" y="0"/>
            <a:chExt cx="10160000" cy="1524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160000" cy="1524000"/>
            </a:xfrm>
            <a:custGeom>
              <a:avLst/>
              <a:gdLst/>
              <a:ahLst/>
              <a:cxnLst/>
              <a:rect l="l" t="t" r="r" b="b"/>
              <a:pathLst>
                <a:path w="10160000" h="1524000">
                  <a:moveTo>
                    <a:pt x="152400" y="0"/>
                  </a:moveTo>
                  <a:lnTo>
                    <a:pt x="10007600" y="0"/>
                  </a:lnTo>
                  <a:cubicBezTo>
                    <a:pt x="10091769" y="0"/>
                    <a:pt x="10160000" y="68232"/>
                    <a:pt x="10160000" y="152400"/>
                  </a:cubicBezTo>
                  <a:lnTo>
                    <a:pt x="10160000" y="1371600"/>
                  </a:lnTo>
                  <a:cubicBezTo>
                    <a:pt x="10160000" y="1455768"/>
                    <a:pt x="10091769" y="1524000"/>
                    <a:pt x="10007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A1A2E">
                <a:alpha val="80000"/>
              </a:srgbClr>
            </a:solidFill>
            <a:ln w="9525" cap="sq">
              <a:solidFill>
                <a:srgbClr val="6C63FF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9715500" y="4476750"/>
            <a:ext cx="72390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6C63FF"/>
                </a:solidFill>
                <a:latin typeface="Telegraf"/>
                <a:ea typeface="Telegraf"/>
                <a:cs typeface="Telegraf"/>
                <a:sym typeface="Telegraf"/>
              </a:rPr>
              <a:t>8.  LIVE MODE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715500" y="4810125"/>
            <a:ext cx="7239000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Toggle Live → paste objection</a:t>
            </a:r>
          </a:p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4 urgent bullets + Next move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525000" y="5619750"/>
            <a:ext cx="7620000" cy="1143000"/>
            <a:chOff x="0" y="0"/>
            <a:chExt cx="10160000" cy="1524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160000" cy="1524000"/>
            </a:xfrm>
            <a:custGeom>
              <a:avLst/>
              <a:gdLst/>
              <a:ahLst/>
              <a:cxnLst/>
              <a:rect l="l" t="t" r="r" b="b"/>
              <a:pathLst>
                <a:path w="10160000" h="1524000">
                  <a:moveTo>
                    <a:pt x="152400" y="0"/>
                  </a:moveTo>
                  <a:lnTo>
                    <a:pt x="10007600" y="0"/>
                  </a:lnTo>
                  <a:cubicBezTo>
                    <a:pt x="10091769" y="0"/>
                    <a:pt x="10160000" y="68232"/>
                    <a:pt x="10160000" y="152400"/>
                  </a:cubicBezTo>
                  <a:lnTo>
                    <a:pt x="10160000" y="1371600"/>
                  </a:lnTo>
                  <a:cubicBezTo>
                    <a:pt x="10160000" y="1455768"/>
                    <a:pt x="10091769" y="1524000"/>
                    <a:pt x="10007600" y="1524000"/>
                  </a:cubicBezTo>
                  <a:lnTo>
                    <a:pt x="152400" y="1524000"/>
                  </a:lnTo>
                  <a:cubicBezTo>
                    <a:pt x="68232" y="1524000"/>
                    <a:pt x="0" y="1455768"/>
                    <a:pt x="0" y="1371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A1A2E">
                <a:alpha val="80000"/>
              </a:srgbClr>
            </a:solidFill>
            <a:ln w="9525" cap="sq">
              <a:solidFill>
                <a:srgbClr val="6C63FF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9715500" y="5715000"/>
            <a:ext cx="7239000" cy="265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dirty="0">
                <a:solidFill>
                  <a:srgbClr val="6C63FF"/>
                </a:solidFill>
                <a:latin typeface="Telegraf"/>
                <a:ea typeface="Telegraf"/>
                <a:cs typeface="Telegraf"/>
                <a:sym typeface="Telegraf"/>
              </a:rPr>
              <a:t>9. </a:t>
            </a:r>
            <a:r>
              <a:rPr lang="en-US" sz="1599" dirty="0">
                <a:solidFill>
                  <a:srgbClr val="6C63FF"/>
                </a:solidFill>
                <a:latin typeface="Telegraf"/>
                <a:ea typeface="Telegraf"/>
                <a:cs typeface="Telegraf"/>
                <a:sym typeface="Telegraf"/>
              </a:rPr>
              <a:t>RESPONSE QUALITY</a:t>
            </a:r>
            <a:endParaRPr lang="en-US" sz="1599" u="none" strike="noStrike" dirty="0">
              <a:solidFill>
                <a:srgbClr val="6C63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9715500" y="6048375"/>
            <a:ext cx="7239000" cy="4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1819"/>
              </a:lnSpc>
              <a:spcBef>
                <a:spcPct val="0"/>
              </a:spcBef>
            </a:pPr>
            <a:r>
              <a:rPr lang="en-US" sz="1299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Bullet-formatted, prospect-specific, cited sources</a:t>
            </a:r>
          </a:p>
          <a:p>
            <a:pPr lvl="0">
              <a:lnSpc>
                <a:spcPts val="1819"/>
              </a:lnSpc>
              <a:spcBef>
                <a:spcPct val="0"/>
              </a:spcBef>
            </a:pPr>
            <a:r>
              <a:rPr lang="en-US" sz="1299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Prep = calm notes, Live = urgent coaching</a:t>
            </a:r>
            <a:endParaRPr lang="en-US" sz="1299" u="none" strike="noStrike" dirty="0">
              <a:solidFill>
                <a:srgbClr val="C8C8D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334000" y="428625"/>
            <a:ext cx="7620000" cy="93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22"/>
              </a:lnSpc>
              <a:spcBef>
                <a:spcPct val="0"/>
              </a:spcBef>
            </a:pPr>
            <a:r>
              <a:rPr lang="en-US" sz="5159" u="none" strike="noStrik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Challenges &amp; Next Steps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86500" y="1326281"/>
            <a:ext cx="5715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A0A0B8"/>
                </a:solidFill>
                <a:latin typeface="Inter"/>
                <a:ea typeface="Inter"/>
                <a:cs typeface="Inter"/>
                <a:sym typeface="Inter"/>
              </a:rPr>
              <a:t>What we learned and where we go from here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47750" y="1905000"/>
            <a:ext cx="5143500" cy="6096000"/>
            <a:chOff x="0" y="0"/>
            <a:chExt cx="6858000" cy="8128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58000" cy="8128000"/>
            </a:xfrm>
            <a:custGeom>
              <a:avLst/>
              <a:gdLst/>
              <a:ahLst/>
              <a:cxnLst/>
              <a:rect l="l" t="t" r="r" b="b"/>
              <a:pathLst>
                <a:path w="6858000" h="8128000">
                  <a:moveTo>
                    <a:pt x="685800" y="0"/>
                  </a:moveTo>
                  <a:lnTo>
                    <a:pt x="6172200" y="0"/>
                  </a:lnTo>
                  <a:cubicBezTo>
                    <a:pt x="6550957" y="0"/>
                    <a:pt x="6858000" y="262010"/>
                    <a:pt x="6858000" y="585216"/>
                  </a:cubicBezTo>
                  <a:lnTo>
                    <a:pt x="6858000" y="7542784"/>
                  </a:lnTo>
                  <a:cubicBezTo>
                    <a:pt x="6858000" y="7865990"/>
                    <a:pt x="6550957" y="8128000"/>
                    <a:pt x="6172200" y="8128000"/>
                  </a:cubicBezTo>
                  <a:lnTo>
                    <a:pt x="685800" y="8128000"/>
                  </a:lnTo>
                  <a:cubicBezTo>
                    <a:pt x="307043" y="8128000"/>
                    <a:pt x="0" y="7865990"/>
                    <a:pt x="0" y="7542784"/>
                  </a:cubicBezTo>
                  <a:lnTo>
                    <a:pt x="0" y="585216"/>
                  </a:lnTo>
                  <a:cubicBezTo>
                    <a:pt x="0" y="262010"/>
                    <a:pt x="307043" y="0"/>
                    <a:pt x="685800" y="0"/>
                  </a:cubicBezTo>
                  <a:close/>
                </a:path>
              </a:pathLst>
            </a:custGeom>
            <a:solidFill>
              <a:srgbClr val="1A1A2E">
                <a:alpha val="80000"/>
              </a:srgbClr>
            </a:solidFill>
            <a:ln w="9525" cap="sq">
              <a:solidFill>
                <a:srgbClr val="4CAF50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238250" y="2057400"/>
            <a:ext cx="476250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199" u="none" strike="noStrike">
                <a:solidFill>
                  <a:srgbClr val="4CAF50"/>
                </a:solidFill>
                <a:latin typeface="Telegraf"/>
                <a:ea typeface="Telegraf"/>
                <a:cs typeface="Telegraf"/>
                <a:sym typeface="Telegraf"/>
              </a:rPr>
              <a:t>✅  WHAT WORKS</a:t>
            </a:r>
          </a:p>
        </p:txBody>
      </p:sp>
      <p:sp>
        <p:nvSpPr>
          <p:cNvPr id="8" name="AutoShape 8"/>
          <p:cNvSpPr/>
          <p:nvPr/>
        </p:nvSpPr>
        <p:spPr>
          <a:xfrm>
            <a:off x="1238250" y="2524125"/>
            <a:ext cx="4762500" cy="0"/>
          </a:xfrm>
          <a:prstGeom prst="line">
            <a:avLst/>
          </a:prstGeom>
          <a:ln w="9525" cap="rnd">
            <a:solidFill>
              <a:srgbClr val="4CAF50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285875" y="2390775"/>
            <a:ext cx="4667250" cy="4656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59"/>
              </a:lnSpc>
              <a:spcBef>
                <a:spcPct val="0"/>
              </a:spcBef>
            </a:pPr>
            <a:r>
              <a:rPr lang="en-US" sz="2799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  RAG-grounded answers</a:t>
            </a:r>
          </a:p>
          <a:p>
            <a:pPr marL="0" lvl="0" indent="0" algn="l">
              <a:lnSpc>
                <a:spcPts val="6159"/>
              </a:lnSpc>
              <a:spcBef>
                <a:spcPct val="0"/>
              </a:spcBef>
            </a:pPr>
            <a:endParaRPr lang="en-US" sz="2799" u="none" strike="noStrike" dirty="0">
              <a:solidFill>
                <a:srgbClr val="C8C8D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>
              <a:lnSpc>
                <a:spcPts val="6159"/>
              </a:lnSpc>
              <a:spcBef>
                <a:spcPct val="0"/>
              </a:spcBef>
            </a:pPr>
            <a:r>
              <a:rPr lang="en-US" sz="2799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  Prep + Live modes</a:t>
            </a:r>
          </a:p>
          <a:p>
            <a:pPr marL="0" lvl="0" indent="0" algn="l">
              <a:lnSpc>
                <a:spcPts val="6159"/>
              </a:lnSpc>
              <a:spcBef>
                <a:spcPct val="0"/>
              </a:spcBef>
            </a:pPr>
            <a:endParaRPr lang="en-US" sz="2799" u="none" strike="noStrike" dirty="0">
              <a:solidFill>
                <a:srgbClr val="C8C8D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>
              <a:lnSpc>
                <a:spcPts val="6159"/>
              </a:lnSpc>
              <a:spcBef>
                <a:spcPct val="0"/>
              </a:spcBef>
            </a:pPr>
            <a:r>
              <a:rPr lang="en-US" sz="2799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  Live tools verified</a:t>
            </a:r>
          </a:p>
          <a:p>
            <a:pPr marL="0" lvl="0" indent="0" algn="l">
              <a:lnSpc>
                <a:spcPts val="6159"/>
              </a:lnSpc>
              <a:spcBef>
                <a:spcPct val="0"/>
              </a:spcBef>
            </a:pPr>
            <a:endParaRPr lang="en-US" sz="2799" u="none" strike="noStrike" dirty="0">
              <a:solidFill>
                <a:srgbClr val="C8C8D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6572250" y="1905000"/>
            <a:ext cx="5143500" cy="6096000"/>
            <a:chOff x="0" y="0"/>
            <a:chExt cx="6858000" cy="8128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858000" cy="8128000"/>
            </a:xfrm>
            <a:custGeom>
              <a:avLst/>
              <a:gdLst/>
              <a:ahLst/>
              <a:cxnLst/>
              <a:rect l="l" t="t" r="r" b="b"/>
              <a:pathLst>
                <a:path w="6858000" h="8128000">
                  <a:moveTo>
                    <a:pt x="685800" y="0"/>
                  </a:moveTo>
                  <a:lnTo>
                    <a:pt x="6172200" y="0"/>
                  </a:lnTo>
                  <a:cubicBezTo>
                    <a:pt x="6550957" y="0"/>
                    <a:pt x="6858000" y="262010"/>
                    <a:pt x="6858000" y="585216"/>
                  </a:cubicBezTo>
                  <a:lnTo>
                    <a:pt x="6858000" y="7542784"/>
                  </a:lnTo>
                  <a:cubicBezTo>
                    <a:pt x="6858000" y="7865990"/>
                    <a:pt x="6550957" y="8128000"/>
                    <a:pt x="6172200" y="8128000"/>
                  </a:cubicBezTo>
                  <a:lnTo>
                    <a:pt x="685800" y="8128000"/>
                  </a:lnTo>
                  <a:cubicBezTo>
                    <a:pt x="307043" y="8128000"/>
                    <a:pt x="0" y="7865990"/>
                    <a:pt x="0" y="7542784"/>
                  </a:cubicBezTo>
                  <a:lnTo>
                    <a:pt x="0" y="585216"/>
                  </a:lnTo>
                  <a:cubicBezTo>
                    <a:pt x="0" y="262010"/>
                    <a:pt x="307043" y="0"/>
                    <a:pt x="685800" y="0"/>
                  </a:cubicBezTo>
                  <a:close/>
                </a:path>
              </a:pathLst>
            </a:custGeom>
            <a:solidFill>
              <a:srgbClr val="1A1A2E">
                <a:alpha val="80000"/>
              </a:srgbClr>
            </a:solidFill>
            <a:ln w="9525" cap="sq">
              <a:solidFill>
                <a:srgbClr val="FF9800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762750" y="2057400"/>
            <a:ext cx="476250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199" u="none" strike="noStrike">
                <a:solidFill>
                  <a:srgbClr val="FF9800"/>
                </a:solidFill>
                <a:latin typeface="Telegraf"/>
                <a:ea typeface="Telegraf"/>
                <a:cs typeface="Telegraf"/>
                <a:sym typeface="Telegraf"/>
              </a:rPr>
              <a:t>⚠️  CHALLENGES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762750" y="2524125"/>
            <a:ext cx="4762500" cy="0"/>
          </a:xfrm>
          <a:prstGeom prst="line">
            <a:avLst/>
          </a:prstGeom>
          <a:ln w="9525" cap="rnd">
            <a:solidFill>
              <a:srgbClr val="FF9800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6810375" y="2390775"/>
            <a:ext cx="4667250" cy="5451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6159"/>
              </a:lnSpc>
              <a:spcBef>
                <a:spcPct val="0"/>
              </a:spcBef>
            </a:pPr>
            <a:r>
              <a:rPr lang="en-US" sz="2799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sz="2799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KB vs tool routing</a:t>
            </a:r>
            <a:endParaRPr lang="en-US" sz="2799" u="none" strike="noStrike" dirty="0">
              <a:solidFill>
                <a:srgbClr val="C8C8D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>
              <a:lnSpc>
                <a:spcPts val="6159"/>
              </a:lnSpc>
              <a:spcBef>
                <a:spcPct val="0"/>
              </a:spcBef>
            </a:pPr>
            <a:endParaRPr lang="en-US" sz="2799" u="none" strike="noStrike" dirty="0">
              <a:solidFill>
                <a:srgbClr val="C8C8D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>
              <a:lnSpc>
                <a:spcPts val="6159"/>
              </a:lnSpc>
              <a:spcBef>
                <a:spcPct val="0"/>
              </a:spcBef>
            </a:pPr>
            <a:r>
              <a:rPr lang="en-US" sz="2799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  Prep/Live format rules</a:t>
            </a:r>
          </a:p>
          <a:p>
            <a:pPr marL="0" lvl="0" indent="0" algn="l">
              <a:lnSpc>
                <a:spcPts val="6159"/>
              </a:lnSpc>
              <a:spcBef>
                <a:spcPct val="0"/>
              </a:spcBef>
            </a:pPr>
            <a:endParaRPr lang="en-US" sz="2799" u="none" strike="noStrike" dirty="0">
              <a:solidFill>
                <a:srgbClr val="C8C8D8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>
              <a:lnSpc>
                <a:spcPts val="6159"/>
              </a:lnSpc>
              <a:spcBef>
                <a:spcPct val="0"/>
              </a:spcBef>
            </a:pPr>
            <a:r>
              <a:rPr lang="en-US" sz="2799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r>
              <a:rPr lang="en-US" sz="2799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 Orchestration latency</a:t>
            </a:r>
            <a:endParaRPr lang="en-US" sz="2799" u="none" strike="noStrike" dirty="0">
              <a:solidFill>
                <a:srgbClr val="C8C8D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>
              <a:lnSpc>
                <a:spcPts val="6159"/>
              </a:lnSpc>
              <a:spcBef>
                <a:spcPct val="0"/>
              </a:spcBef>
            </a:pPr>
            <a:endParaRPr lang="en-US" sz="2799" u="none" strike="noStrike" dirty="0">
              <a:solidFill>
                <a:srgbClr val="C8C8D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>
              <a:lnSpc>
                <a:spcPts val="6159"/>
              </a:lnSpc>
              <a:spcBef>
                <a:spcPct val="0"/>
              </a:spcBef>
            </a:pPr>
            <a:endParaRPr lang="en-US" sz="2799" u="none" strike="noStrike" dirty="0">
              <a:solidFill>
                <a:srgbClr val="C8C8D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2096750" y="1905000"/>
            <a:ext cx="5143500" cy="6096000"/>
            <a:chOff x="0" y="0"/>
            <a:chExt cx="6858000" cy="8128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858000" cy="8128000"/>
            </a:xfrm>
            <a:custGeom>
              <a:avLst/>
              <a:gdLst/>
              <a:ahLst/>
              <a:cxnLst/>
              <a:rect l="l" t="t" r="r" b="b"/>
              <a:pathLst>
                <a:path w="6858000" h="8128000">
                  <a:moveTo>
                    <a:pt x="685800" y="0"/>
                  </a:moveTo>
                  <a:lnTo>
                    <a:pt x="6172200" y="0"/>
                  </a:lnTo>
                  <a:cubicBezTo>
                    <a:pt x="6550957" y="0"/>
                    <a:pt x="6858000" y="262010"/>
                    <a:pt x="6858000" y="585216"/>
                  </a:cubicBezTo>
                  <a:lnTo>
                    <a:pt x="6858000" y="7542784"/>
                  </a:lnTo>
                  <a:cubicBezTo>
                    <a:pt x="6858000" y="7865990"/>
                    <a:pt x="6550957" y="8128000"/>
                    <a:pt x="6172200" y="8128000"/>
                  </a:cubicBezTo>
                  <a:lnTo>
                    <a:pt x="685800" y="8128000"/>
                  </a:lnTo>
                  <a:cubicBezTo>
                    <a:pt x="307043" y="8128000"/>
                    <a:pt x="0" y="7865990"/>
                    <a:pt x="0" y="7542784"/>
                  </a:cubicBezTo>
                  <a:lnTo>
                    <a:pt x="0" y="585216"/>
                  </a:lnTo>
                  <a:cubicBezTo>
                    <a:pt x="0" y="262010"/>
                    <a:pt x="307043" y="0"/>
                    <a:pt x="685800" y="0"/>
                  </a:cubicBezTo>
                  <a:close/>
                </a:path>
              </a:pathLst>
            </a:custGeom>
            <a:solidFill>
              <a:srgbClr val="1A1A2E">
                <a:alpha val="80000"/>
              </a:srgbClr>
            </a:solidFill>
            <a:ln w="9525" cap="sq">
              <a:solidFill>
                <a:srgbClr val="AB47BC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287250" y="2057400"/>
            <a:ext cx="476250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199" u="none" strike="noStrike">
                <a:solidFill>
                  <a:srgbClr val="AB47BC"/>
                </a:solidFill>
                <a:latin typeface="Telegraf"/>
                <a:ea typeface="Telegraf"/>
                <a:cs typeface="Telegraf"/>
                <a:sym typeface="Telegraf"/>
              </a:rPr>
              <a:t>🚀  NEXT STEPS</a:t>
            </a:r>
          </a:p>
        </p:txBody>
      </p:sp>
      <p:sp>
        <p:nvSpPr>
          <p:cNvPr id="18" name="AutoShape 18"/>
          <p:cNvSpPr/>
          <p:nvPr/>
        </p:nvSpPr>
        <p:spPr>
          <a:xfrm>
            <a:off x="12287250" y="2524125"/>
            <a:ext cx="4762500" cy="0"/>
          </a:xfrm>
          <a:prstGeom prst="line">
            <a:avLst/>
          </a:prstGeom>
          <a:ln w="9525" cap="rnd">
            <a:solidFill>
              <a:srgbClr val="AB47BC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2287250" y="2390775"/>
            <a:ext cx="4667250" cy="382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59"/>
              </a:lnSpc>
              <a:spcBef>
                <a:spcPct val="0"/>
              </a:spcBef>
            </a:pPr>
            <a:r>
              <a:rPr lang="en-US" sz="2799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  Authentication</a:t>
            </a:r>
          </a:p>
          <a:p>
            <a:pPr marL="0" lvl="0" indent="0" algn="l">
              <a:lnSpc>
                <a:spcPts val="6159"/>
              </a:lnSpc>
              <a:spcBef>
                <a:spcPct val="0"/>
              </a:spcBef>
            </a:pPr>
            <a:endParaRPr lang="en-US" sz="2799" u="none" strike="noStrike" dirty="0">
              <a:solidFill>
                <a:srgbClr val="C8C8D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>
              <a:lnSpc>
                <a:spcPts val="6159"/>
              </a:lnSpc>
              <a:spcBef>
                <a:spcPct val="0"/>
              </a:spcBef>
            </a:pPr>
            <a:r>
              <a:rPr lang="en-US" sz="2799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  Voice-to-text</a:t>
            </a:r>
          </a:p>
          <a:p>
            <a:pPr marL="0" lvl="0" indent="0" algn="l">
              <a:lnSpc>
                <a:spcPts val="6159"/>
              </a:lnSpc>
              <a:spcBef>
                <a:spcPct val="0"/>
              </a:spcBef>
            </a:pPr>
            <a:endParaRPr lang="en-US" sz="2799" u="none" strike="noStrike" dirty="0">
              <a:solidFill>
                <a:srgbClr val="C8C8D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>
              <a:lnSpc>
                <a:spcPts val="6159"/>
              </a:lnSpc>
              <a:spcBef>
                <a:spcPct val="0"/>
              </a:spcBef>
            </a:pPr>
            <a:r>
              <a:rPr lang="en-US" sz="2799" u="none" strike="noStrike" dirty="0">
                <a:solidFill>
                  <a:srgbClr val="C8C8D8"/>
                </a:solidFill>
                <a:latin typeface="Inter"/>
                <a:ea typeface="Inter"/>
                <a:cs typeface="Inter"/>
                <a:sym typeface="Inter"/>
              </a:rPr>
              <a:t>•  Manager dashboard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29000" y="8343900"/>
            <a:ext cx="114300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A0A0B8"/>
                </a:solidFill>
                <a:latin typeface="Inter"/>
                <a:ea typeface="Inter"/>
                <a:cs typeface="Inter"/>
                <a:sym typeface="Inter"/>
              </a:rPr>
              <a:t>RepReady is live, grounded, and ready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622</Words>
  <Application>Microsoft Office PowerPoint</Application>
  <PresentationFormat>Custom</PresentationFormat>
  <Paragraphs>127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Inter Bold</vt:lpstr>
      <vt:lpstr>Calibri</vt:lpstr>
      <vt:lpstr>Telegraf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 Professional App Pitch Deck</dc:title>
  <dc:creator>Ido Avraham</dc:creator>
  <cp:lastModifiedBy>Ido Avraham</cp:lastModifiedBy>
  <cp:revision>5</cp:revision>
  <dcterms:created xsi:type="dcterms:W3CDTF">2006-08-16T00:00:00Z</dcterms:created>
  <dcterms:modified xsi:type="dcterms:W3CDTF">2026-06-09T17:19:56Z</dcterms:modified>
  <dc:identifier>DAHMEOjqJTY</dc:identifier>
</cp:coreProperties>
</file>