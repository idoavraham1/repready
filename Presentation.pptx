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mp4" ContentType="video/mp4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sldSz cx="18288000" cy="10287000"/>
  <p:notesSz cx="6858000" cy="9144000"/>
  <p:embeddedFontLst>
    <p:embeddedFont>
      <p:font typeface="Inter" panose="020B0604020202020204" charset="0"/>
      <p:regular r:id="rId9"/>
    </p:embeddedFont>
    <p:embeddedFont>
      <p:font typeface="Inter Bold" panose="020B0604020202020204" charset="0"/>
      <p:regular r:id="rId10"/>
    </p:embeddedFont>
    <p:embeddedFont>
      <p:font typeface="Telegraf" panose="020B0604020202020204" charset="0"/>
      <p:regular r:id="rId11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 autoAdjust="0"/>
    <p:restoredTop sz="94622" autoAdjust="0"/>
  </p:normalViewPr>
  <p:slideViewPr>
    <p:cSldViewPr>
      <p:cViewPr varScale="1">
        <p:scale>
          <a:sx n="47" d="100"/>
          <a:sy n="47" d="100"/>
        </p:scale>
        <p:origin x="500" y="44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font" Target="fonts/font3.fntdata"/><Relationship Id="rId5" Type="http://schemas.openxmlformats.org/officeDocument/2006/relationships/slide" Target="slides/slide4.xml"/><Relationship Id="rId15" Type="http://schemas.openxmlformats.org/officeDocument/2006/relationships/tableStyles" Target="tableStyles.xml"/><Relationship Id="rId10" Type="http://schemas.openxmlformats.org/officeDocument/2006/relationships/font" Target="fonts/font2.fntdata"/><Relationship Id="rId4" Type="http://schemas.openxmlformats.org/officeDocument/2006/relationships/slide" Target="slides/slide3.xml"/><Relationship Id="rId9" Type="http://schemas.openxmlformats.org/officeDocument/2006/relationships/font" Target="fonts/font1.fntdata"/><Relationship Id="rId14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6/9/2026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6/9/2026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6/9/2026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6/9/2026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6/9/2026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6/9/2026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6/9/2026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6/9/2026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6/9/2026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6/9/2026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6/9/2026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6/9/2026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3.svg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7.xml"/><Relationship Id="rId2" Type="http://schemas.openxmlformats.org/officeDocument/2006/relationships/video" Target="../media/media1.mp4"/><Relationship Id="rId1" Type="http://schemas.microsoft.com/office/2007/relationships/media" Target="../media/media1.mp4"/><Relationship Id="rId4" Type="http://schemas.openxmlformats.org/officeDocument/2006/relationships/image" Target="../media/image5.png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3" name="Freeform 3"/>
          <p:cNvSpPr/>
          <p:nvPr/>
        </p:nvSpPr>
        <p:spPr>
          <a:xfrm>
            <a:off x="7086600" y="2381250"/>
            <a:ext cx="4114800" cy="4114800"/>
          </a:xfrm>
          <a:custGeom>
            <a:avLst/>
            <a:gdLst/>
            <a:ahLst/>
            <a:cxnLst/>
            <a:rect l="l" t="t" r="r" b="b"/>
            <a:pathLst>
              <a:path w="4114800" h="4114800">
                <a:moveTo>
                  <a:pt x="0" y="0"/>
                </a:moveTo>
                <a:lnTo>
                  <a:pt x="4114800" y="0"/>
                </a:lnTo>
                <a:lnTo>
                  <a:pt x="4114800" y="4114800"/>
                </a:lnTo>
                <a:lnTo>
                  <a:pt x="0" y="4114800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4" name="Freeform 4"/>
          <p:cNvSpPr/>
          <p:nvPr/>
        </p:nvSpPr>
        <p:spPr>
          <a:xfrm>
            <a:off x="7239000" y="2533650"/>
            <a:ext cx="4114800" cy="4114800"/>
          </a:xfrm>
          <a:custGeom>
            <a:avLst/>
            <a:gdLst/>
            <a:ahLst/>
            <a:cxnLst/>
            <a:rect l="l" t="t" r="r" b="b"/>
            <a:pathLst>
              <a:path w="4114800" h="4114800">
                <a:moveTo>
                  <a:pt x="0" y="0"/>
                </a:moveTo>
                <a:lnTo>
                  <a:pt x="4114800" y="0"/>
                </a:lnTo>
                <a:lnTo>
                  <a:pt x="4114800" y="4114800"/>
                </a:lnTo>
                <a:lnTo>
                  <a:pt x="0" y="4114800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5" name="TextBox 5"/>
          <p:cNvSpPr txBox="1"/>
          <p:nvPr/>
        </p:nvSpPr>
        <p:spPr>
          <a:xfrm>
            <a:off x="5334000" y="7620000"/>
            <a:ext cx="7620000" cy="49085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3919"/>
              </a:lnSpc>
              <a:spcBef>
                <a:spcPct val="0"/>
              </a:spcBef>
            </a:pPr>
            <a:r>
              <a:rPr lang="en-US" sz="2799" u="none" strike="noStrike">
                <a:solidFill>
                  <a:srgbClr val="A0A0B8"/>
                </a:solidFill>
                <a:latin typeface="Inter"/>
                <a:ea typeface="Inter"/>
                <a:cs typeface="Inter"/>
                <a:sym typeface="Inter"/>
              </a:rPr>
              <a:t>Live Call Coach for B2B Sales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5334000" y="6381750"/>
            <a:ext cx="7620000" cy="130302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10080"/>
              </a:lnSpc>
              <a:spcBef>
                <a:spcPct val="0"/>
              </a:spcBef>
            </a:pPr>
            <a:r>
              <a:rPr lang="en-US" sz="7200" u="none" strike="noStrike">
                <a:solidFill>
                  <a:srgbClr val="FFFFFF"/>
                </a:solidFill>
                <a:latin typeface="Telegraf"/>
                <a:ea typeface="Telegraf"/>
                <a:cs typeface="Telegraf"/>
                <a:sym typeface="Telegraf"/>
              </a:rPr>
              <a:t>RepReady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5334000" y="8334375"/>
            <a:ext cx="7620000" cy="7016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2800"/>
              </a:lnSpc>
              <a:spcBef>
                <a:spcPct val="0"/>
              </a:spcBef>
            </a:pPr>
            <a:r>
              <a:rPr lang="en-US" sz="2000" u="none" strike="noStrike">
                <a:solidFill>
                  <a:srgbClr val="A0A0B8"/>
                </a:solidFill>
                <a:latin typeface="Inter"/>
                <a:ea typeface="Inter"/>
                <a:cs typeface="Inter"/>
                <a:sym typeface="Inter"/>
              </a:rPr>
              <a:t>Ido Avraham</a:t>
            </a:r>
          </a:p>
          <a:p>
            <a:pPr marL="0" lvl="0" indent="0" algn="ctr">
              <a:lnSpc>
                <a:spcPts val="2800"/>
              </a:lnSpc>
              <a:spcBef>
                <a:spcPct val="0"/>
              </a:spcBef>
            </a:pPr>
            <a:r>
              <a:rPr lang="en-US" sz="2000" u="none" strike="noStrike">
                <a:solidFill>
                  <a:srgbClr val="A0A0B8"/>
                </a:solidFill>
                <a:latin typeface="Inter"/>
                <a:ea typeface="Inter"/>
                <a:cs typeface="Inter"/>
                <a:sym typeface="Inter"/>
              </a:rPr>
              <a:t>B.Sc Computer Science | Ariel University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-36394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-1507" t="-1049" r="-1507" b="-1049"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3" name="TextBox 3"/>
          <p:cNvSpPr txBox="1"/>
          <p:nvPr/>
        </p:nvSpPr>
        <p:spPr>
          <a:xfrm>
            <a:off x="5334000" y="228600"/>
            <a:ext cx="7620000" cy="94424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7279"/>
              </a:lnSpc>
              <a:spcBef>
                <a:spcPct val="0"/>
              </a:spcBef>
            </a:pPr>
            <a:r>
              <a:rPr lang="en-US" sz="5199" u="none" strike="noStrike">
                <a:solidFill>
                  <a:srgbClr val="FFFFFF"/>
                </a:solidFill>
                <a:latin typeface="Telegraf"/>
                <a:ea typeface="Telegraf"/>
                <a:cs typeface="Telegraf"/>
                <a:sym typeface="Telegraf"/>
              </a:rPr>
              <a:t>Project Overview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6286500" y="1104900"/>
            <a:ext cx="5715000" cy="30670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2520"/>
              </a:lnSpc>
              <a:spcBef>
                <a:spcPct val="0"/>
              </a:spcBef>
            </a:pPr>
            <a:r>
              <a:rPr lang="en-US" sz="1800" u="none" strike="noStrike">
                <a:solidFill>
                  <a:srgbClr val="A0A0B8"/>
                </a:solidFill>
                <a:latin typeface="Inter"/>
                <a:ea typeface="Inter"/>
                <a:cs typeface="Inter"/>
                <a:sym typeface="Inter"/>
              </a:rPr>
              <a:t>Always know your next move.</a:t>
            </a:r>
          </a:p>
        </p:txBody>
      </p:sp>
      <p:grpSp>
        <p:nvGrpSpPr>
          <p:cNvPr id="5" name="Group 5"/>
          <p:cNvGrpSpPr/>
          <p:nvPr/>
        </p:nvGrpSpPr>
        <p:grpSpPr>
          <a:xfrm>
            <a:off x="771525" y="3143250"/>
            <a:ext cx="5391150" cy="4000500"/>
            <a:chOff x="0" y="0"/>
            <a:chExt cx="7188200" cy="5334000"/>
          </a:xfrm>
        </p:grpSpPr>
        <p:sp>
          <p:nvSpPr>
            <p:cNvPr id="6" name="Freeform 6"/>
            <p:cNvSpPr/>
            <p:nvPr/>
          </p:nvSpPr>
          <p:spPr>
            <a:xfrm>
              <a:off x="0" y="0"/>
              <a:ext cx="7188200" cy="5334000"/>
            </a:xfrm>
            <a:custGeom>
              <a:avLst/>
              <a:gdLst/>
              <a:ahLst/>
              <a:cxnLst/>
              <a:rect l="l" t="t" r="r" b="b"/>
              <a:pathLst>
                <a:path w="7188200" h="5334000">
                  <a:moveTo>
                    <a:pt x="533400" y="0"/>
                  </a:moveTo>
                  <a:lnTo>
                    <a:pt x="6654800" y="0"/>
                  </a:lnTo>
                  <a:cubicBezTo>
                    <a:pt x="6949389" y="0"/>
                    <a:pt x="7188200" y="238811"/>
                    <a:pt x="7188200" y="533400"/>
                  </a:cubicBezTo>
                  <a:lnTo>
                    <a:pt x="7188200" y="4800600"/>
                  </a:lnTo>
                  <a:cubicBezTo>
                    <a:pt x="7188200" y="5095189"/>
                    <a:pt x="6949389" y="5334000"/>
                    <a:pt x="6654800" y="5334000"/>
                  </a:cubicBezTo>
                  <a:lnTo>
                    <a:pt x="533400" y="5334000"/>
                  </a:lnTo>
                  <a:cubicBezTo>
                    <a:pt x="238811" y="5334000"/>
                    <a:pt x="0" y="5095189"/>
                    <a:pt x="0" y="4800600"/>
                  </a:cubicBezTo>
                  <a:lnTo>
                    <a:pt x="0" y="533400"/>
                  </a:lnTo>
                  <a:cubicBezTo>
                    <a:pt x="0" y="238811"/>
                    <a:pt x="238811" y="0"/>
                    <a:pt x="533400" y="0"/>
                  </a:cubicBezTo>
                  <a:close/>
                </a:path>
              </a:pathLst>
            </a:custGeom>
            <a:solidFill>
              <a:srgbClr val="1A1A2E">
                <a:alpha val="84706"/>
              </a:srgbClr>
            </a:solidFill>
            <a:ln w="9525" cap="sq">
              <a:solidFill>
                <a:srgbClr val="6C63FF">
                  <a:alpha val="84706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7" name="Group 7"/>
          <p:cNvGrpSpPr/>
          <p:nvPr/>
        </p:nvGrpSpPr>
        <p:grpSpPr>
          <a:xfrm>
            <a:off x="6448425" y="3143250"/>
            <a:ext cx="5391150" cy="4000500"/>
            <a:chOff x="0" y="0"/>
            <a:chExt cx="7188200" cy="5334000"/>
          </a:xfrm>
        </p:grpSpPr>
        <p:sp>
          <p:nvSpPr>
            <p:cNvPr id="8" name="Freeform 8"/>
            <p:cNvSpPr/>
            <p:nvPr/>
          </p:nvSpPr>
          <p:spPr>
            <a:xfrm>
              <a:off x="0" y="0"/>
              <a:ext cx="7188200" cy="5334000"/>
            </a:xfrm>
            <a:custGeom>
              <a:avLst/>
              <a:gdLst/>
              <a:ahLst/>
              <a:cxnLst/>
              <a:rect l="l" t="t" r="r" b="b"/>
              <a:pathLst>
                <a:path w="7188200" h="5334000">
                  <a:moveTo>
                    <a:pt x="533400" y="0"/>
                  </a:moveTo>
                  <a:lnTo>
                    <a:pt x="6654800" y="0"/>
                  </a:lnTo>
                  <a:cubicBezTo>
                    <a:pt x="6949389" y="0"/>
                    <a:pt x="7188200" y="238811"/>
                    <a:pt x="7188200" y="533400"/>
                  </a:cubicBezTo>
                  <a:lnTo>
                    <a:pt x="7188200" y="4800600"/>
                  </a:lnTo>
                  <a:cubicBezTo>
                    <a:pt x="7188200" y="5095189"/>
                    <a:pt x="6949389" y="5334000"/>
                    <a:pt x="6654800" y="5334000"/>
                  </a:cubicBezTo>
                  <a:lnTo>
                    <a:pt x="533400" y="5334000"/>
                  </a:lnTo>
                  <a:cubicBezTo>
                    <a:pt x="238811" y="5334000"/>
                    <a:pt x="0" y="5095189"/>
                    <a:pt x="0" y="4800600"/>
                  </a:cubicBezTo>
                  <a:lnTo>
                    <a:pt x="0" y="533400"/>
                  </a:lnTo>
                  <a:cubicBezTo>
                    <a:pt x="0" y="238811"/>
                    <a:pt x="238811" y="0"/>
                    <a:pt x="533400" y="0"/>
                  </a:cubicBezTo>
                  <a:close/>
                </a:path>
              </a:pathLst>
            </a:custGeom>
            <a:solidFill>
              <a:srgbClr val="1A1A2E">
                <a:alpha val="84706"/>
              </a:srgbClr>
            </a:solidFill>
            <a:ln w="9525" cap="sq">
              <a:solidFill>
                <a:srgbClr val="6C63FF">
                  <a:alpha val="84706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9" name="Group 9"/>
          <p:cNvGrpSpPr/>
          <p:nvPr/>
        </p:nvGrpSpPr>
        <p:grpSpPr>
          <a:xfrm>
            <a:off x="12125325" y="3143250"/>
            <a:ext cx="5391150" cy="4000500"/>
            <a:chOff x="0" y="0"/>
            <a:chExt cx="7188200" cy="5334000"/>
          </a:xfrm>
        </p:grpSpPr>
        <p:sp>
          <p:nvSpPr>
            <p:cNvPr id="10" name="Freeform 10"/>
            <p:cNvSpPr/>
            <p:nvPr/>
          </p:nvSpPr>
          <p:spPr>
            <a:xfrm>
              <a:off x="0" y="0"/>
              <a:ext cx="7188200" cy="5334000"/>
            </a:xfrm>
            <a:custGeom>
              <a:avLst/>
              <a:gdLst/>
              <a:ahLst/>
              <a:cxnLst/>
              <a:rect l="l" t="t" r="r" b="b"/>
              <a:pathLst>
                <a:path w="7188200" h="5334000">
                  <a:moveTo>
                    <a:pt x="533400" y="0"/>
                  </a:moveTo>
                  <a:lnTo>
                    <a:pt x="6654800" y="0"/>
                  </a:lnTo>
                  <a:cubicBezTo>
                    <a:pt x="6949389" y="0"/>
                    <a:pt x="7188200" y="238811"/>
                    <a:pt x="7188200" y="533400"/>
                  </a:cubicBezTo>
                  <a:lnTo>
                    <a:pt x="7188200" y="4800600"/>
                  </a:lnTo>
                  <a:cubicBezTo>
                    <a:pt x="7188200" y="5095189"/>
                    <a:pt x="6949389" y="5334000"/>
                    <a:pt x="6654800" y="5334000"/>
                  </a:cubicBezTo>
                  <a:lnTo>
                    <a:pt x="533400" y="5334000"/>
                  </a:lnTo>
                  <a:cubicBezTo>
                    <a:pt x="238811" y="5334000"/>
                    <a:pt x="0" y="5095189"/>
                    <a:pt x="0" y="4800600"/>
                  </a:cubicBezTo>
                  <a:lnTo>
                    <a:pt x="0" y="533400"/>
                  </a:lnTo>
                  <a:cubicBezTo>
                    <a:pt x="0" y="238811"/>
                    <a:pt x="238811" y="0"/>
                    <a:pt x="533400" y="0"/>
                  </a:cubicBezTo>
                  <a:close/>
                </a:path>
              </a:pathLst>
            </a:custGeom>
            <a:solidFill>
              <a:srgbClr val="1A1A2E">
                <a:alpha val="84706"/>
              </a:srgbClr>
            </a:solidFill>
            <a:ln w="9525" cap="sq">
              <a:solidFill>
                <a:srgbClr val="6C63FF">
                  <a:alpha val="84706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11" name="TextBox 11"/>
          <p:cNvSpPr txBox="1"/>
          <p:nvPr/>
        </p:nvSpPr>
        <p:spPr>
          <a:xfrm>
            <a:off x="962025" y="3228975"/>
            <a:ext cx="5010150" cy="4857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3747"/>
              </a:lnSpc>
              <a:spcBef>
                <a:spcPct val="0"/>
              </a:spcBef>
            </a:pPr>
            <a:r>
              <a:rPr lang="en-US" sz="2676" u="none" strike="noStrike">
                <a:solidFill>
                  <a:srgbClr val="6C63FF"/>
                </a:solidFill>
                <a:latin typeface="Telegraf"/>
                <a:ea typeface="Telegraf"/>
                <a:cs typeface="Telegraf"/>
                <a:sym typeface="Telegraf"/>
              </a:rPr>
              <a:t>⚠️  THE PROBLEM</a:t>
            </a:r>
          </a:p>
        </p:txBody>
      </p:sp>
      <p:sp>
        <p:nvSpPr>
          <p:cNvPr id="12" name="AutoShape 12"/>
          <p:cNvSpPr/>
          <p:nvPr/>
        </p:nvSpPr>
        <p:spPr>
          <a:xfrm>
            <a:off x="962025" y="3810000"/>
            <a:ext cx="5010150" cy="0"/>
          </a:xfrm>
          <a:prstGeom prst="line">
            <a:avLst/>
          </a:prstGeom>
          <a:ln w="19050" cap="rnd">
            <a:solidFill>
              <a:srgbClr val="6C63FF">
                <a:alpha val="49804"/>
              </a:srgbClr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US"/>
          </a:p>
        </p:txBody>
      </p:sp>
      <p:sp>
        <p:nvSpPr>
          <p:cNvPr id="13" name="TextBox 13"/>
          <p:cNvSpPr txBox="1"/>
          <p:nvPr/>
        </p:nvSpPr>
        <p:spPr>
          <a:xfrm>
            <a:off x="962025" y="3819525"/>
            <a:ext cx="5010150" cy="31146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3146"/>
              </a:lnSpc>
              <a:spcBef>
                <a:spcPct val="0"/>
              </a:spcBef>
            </a:pPr>
            <a:r>
              <a:rPr lang="en-US" sz="1966" u="none" strike="noStrike">
                <a:solidFill>
                  <a:srgbClr val="C8C8D8"/>
                </a:solidFill>
                <a:latin typeface="Inter"/>
                <a:ea typeface="Inter"/>
                <a:cs typeface="Inter"/>
                <a:sym typeface="Inter"/>
              </a:rPr>
              <a:t>•  </a:t>
            </a:r>
            <a:r>
              <a:rPr lang="en-US" sz="1966" b="1" u="none" strike="noStrike">
                <a:solidFill>
                  <a:srgbClr val="C8C8D8"/>
                </a:solidFill>
                <a:latin typeface="Inter Bold"/>
                <a:ea typeface="Inter Bold"/>
                <a:cs typeface="Inter Bold"/>
                <a:sym typeface="Inter Bold"/>
              </a:rPr>
              <a:t>One mistake</a:t>
            </a:r>
            <a:r>
              <a:rPr lang="en-US" sz="1966" u="none" strike="noStrike">
                <a:solidFill>
                  <a:srgbClr val="C8C8D8"/>
                </a:solidFill>
                <a:latin typeface="Inter"/>
                <a:ea typeface="Inter"/>
                <a:cs typeface="Inter"/>
                <a:sym typeface="Inter"/>
              </a:rPr>
              <a:t> on a call → deal lost</a:t>
            </a:r>
          </a:p>
          <a:p>
            <a:pPr marL="0" lvl="0" indent="0" algn="l">
              <a:lnSpc>
                <a:spcPts val="3146"/>
              </a:lnSpc>
              <a:spcBef>
                <a:spcPct val="0"/>
              </a:spcBef>
            </a:pPr>
            <a:endParaRPr lang="en-US" sz="1966" u="none" strike="noStrike">
              <a:solidFill>
                <a:srgbClr val="C8C8D8"/>
              </a:solidFill>
              <a:latin typeface="Inter"/>
              <a:ea typeface="Inter"/>
              <a:cs typeface="Inter"/>
              <a:sym typeface="Inter"/>
            </a:endParaRPr>
          </a:p>
          <a:p>
            <a:pPr marL="0" lvl="0" indent="0" algn="l">
              <a:lnSpc>
                <a:spcPts val="3146"/>
              </a:lnSpc>
              <a:spcBef>
                <a:spcPct val="0"/>
              </a:spcBef>
            </a:pPr>
            <a:r>
              <a:rPr lang="en-US" sz="1966" u="none" strike="noStrike">
                <a:solidFill>
                  <a:srgbClr val="C8C8D8"/>
                </a:solidFill>
                <a:latin typeface="Inter"/>
                <a:ea typeface="Inter"/>
                <a:cs typeface="Inter"/>
                <a:sym typeface="Inter"/>
              </a:rPr>
              <a:t>•  </a:t>
            </a:r>
            <a:r>
              <a:rPr lang="en-US" sz="1966" b="1" u="none" strike="noStrike">
                <a:solidFill>
                  <a:srgbClr val="C8C8D8"/>
                </a:solidFill>
                <a:latin typeface="Inter Bold"/>
                <a:ea typeface="Inter Bold"/>
                <a:cs typeface="Inter Bold"/>
                <a:sym typeface="Inter Bold"/>
              </a:rPr>
              <a:t>Long time to prepare</a:t>
            </a:r>
            <a:r>
              <a:rPr lang="en-US" sz="1966" u="none" strike="noStrike">
                <a:solidFill>
                  <a:srgbClr val="C8C8D8"/>
                </a:solidFill>
                <a:latin typeface="Inter"/>
                <a:ea typeface="Inter"/>
                <a:cs typeface="Inter"/>
                <a:sym typeface="Inter"/>
              </a:rPr>
              <a:t> — digging through Confluence, CRM, docs</a:t>
            </a:r>
          </a:p>
          <a:p>
            <a:pPr marL="0" lvl="0" indent="0" algn="l">
              <a:lnSpc>
                <a:spcPts val="3146"/>
              </a:lnSpc>
              <a:spcBef>
                <a:spcPct val="0"/>
              </a:spcBef>
            </a:pPr>
            <a:endParaRPr lang="en-US" sz="1966" u="none" strike="noStrike">
              <a:solidFill>
                <a:srgbClr val="C8C8D8"/>
              </a:solidFill>
              <a:latin typeface="Inter"/>
              <a:ea typeface="Inter"/>
              <a:cs typeface="Inter"/>
              <a:sym typeface="Inter"/>
            </a:endParaRPr>
          </a:p>
          <a:p>
            <a:pPr marL="0" lvl="0" indent="0" algn="l">
              <a:lnSpc>
                <a:spcPts val="3146"/>
              </a:lnSpc>
              <a:spcBef>
                <a:spcPct val="0"/>
              </a:spcBef>
            </a:pPr>
            <a:r>
              <a:rPr lang="en-US" sz="1966" u="none" strike="noStrike">
                <a:solidFill>
                  <a:srgbClr val="C8C8D8"/>
                </a:solidFill>
                <a:latin typeface="Inter"/>
                <a:ea typeface="Inter"/>
                <a:cs typeface="Inter"/>
                <a:sym typeface="Inter"/>
              </a:rPr>
              <a:t>•  Reps </a:t>
            </a:r>
            <a:r>
              <a:rPr lang="en-US" sz="1966" b="1" u="none" strike="noStrike">
                <a:solidFill>
                  <a:srgbClr val="C8C8D8"/>
                </a:solidFill>
                <a:latin typeface="Inter Bold"/>
                <a:ea typeface="Inter Bold"/>
                <a:cs typeface="Inter Bold"/>
                <a:sym typeface="Inter Bold"/>
              </a:rPr>
              <a:t>freeze</a:t>
            </a:r>
            <a:r>
              <a:rPr lang="en-US" sz="1966" u="none" strike="noStrike">
                <a:solidFill>
                  <a:srgbClr val="C8C8D8"/>
                </a:solidFill>
                <a:latin typeface="Inter"/>
                <a:ea typeface="Inter"/>
                <a:cs typeface="Inter"/>
                <a:sym typeface="Inter"/>
              </a:rPr>
              <a:t> on pricing &amp; compliance</a:t>
            </a:r>
          </a:p>
          <a:p>
            <a:pPr marL="0" lvl="0" indent="0" algn="l">
              <a:lnSpc>
                <a:spcPts val="3146"/>
              </a:lnSpc>
              <a:spcBef>
                <a:spcPct val="0"/>
              </a:spcBef>
            </a:pPr>
            <a:endParaRPr lang="en-US" sz="1966" u="none" strike="noStrike">
              <a:solidFill>
                <a:srgbClr val="C8C8D8"/>
              </a:solidFill>
              <a:latin typeface="Inter"/>
              <a:ea typeface="Inter"/>
              <a:cs typeface="Inter"/>
              <a:sym typeface="Inter"/>
            </a:endParaRPr>
          </a:p>
          <a:p>
            <a:pPr marL="0" lvl="0" indent="0" algn="l">
              <a:lnSpc>
                <a:spcPts val="3146"/>
              </a:lnSpc>
              <a:spcBef>
                <a:spcPct val="0"/>
              </a:spcBef>
            </a:pPr>
            <a:r>
              <a:rPr lang="en-US" sz="1966" u="none" strike="noStrike">
                <a:solidFill>
                  <a:srgbClr val="C8C8D8"/>
                </a:solidFill>
                <a:latin typeface="Inter"/>
                <a:ea typeface="Inter"/>
                <a:cs typeface="Inter"/>
                <a:sym typeface="Inter"/>
              </a:rPr>
              <a:t>•  Managers have </a:t>
            </a:r>
            <a:r>
              <a:rPr lang="en-US" sz="1966" b="1" u="none" strike="noStrike">
                <a:solidFill>
                  <a:srgbClr val="C8C8D8"/>
                </a:solidFill>
                <a:latin typeface="Inter Bold"/>
                <a:ea typeface="Inter Bold"/>
                <a:cs typeface="Inter Bold"/>
                <a:sym typeface="Inter Bold"/>
              </a:rPr>
              <a:t>zero visibility</a:t>
            </a:r>
            <a:r>
              <a:rPr lang="en-US" sz="1966" u="none" strike="noStrike">
                <a:solidFill>
                  <a:srgbClr val="C8C8D8"/>
                </a:solidFill>
                <a:latin typeface="Inter"/>
                <a:ea typeface="Inter"/>
                <a:cs typeface="Inter"/>
                <a:sym typeface="Inter"/>
              </a:rPr>
              <a:t> into gaps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6638925" y="3228975"/>
            <a:ext cx="5010150" cy="4857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3747"/>
              </a:lnSpc>
              <a:spcBef>
                <a:spcPct val="0"/>
              </a:spcBef>
            </a:pPr>
            <a:r>
              <a:rPr lang="en-US" sz="2676" u="none" strike="noStrike">
                <a:solidFill>
                  <a:srgbClr val="6C63FF"/>
                </a:solidFill>
                <a:latin typeface="Telegraf"/>
                <a:ea typeface="Telegraf"/>
                <a:cs typeface="Telegraf"/>
                <a:sym typeface="Telegraf"/>
              </a:rPr>
              <a:t>🎯  USERS</a:t>
            </a:r>
          </a:p>
        </p:txBody>
      </p:sp>
      <p:sp>
        <p:nvSpPr>
          <p:cNvPr id="15" name="AutoShape 15"/>
          <p:cNvSpPr/>
          <p:nvPr/>
        </p:nvSpPr>
        <p:spPr>
          <a:xfrm>
            <a:off x="6638925" y="3810000"/>
            <a:ext cx="5010150" cy="0"/>
          </a:xfrm>
          <a:prstGeom prst="line">
            <a:avLst/>
          </a:prstGeom>
          <a:ln w="19050" cap="rnd">
            <a:solidFill>
              <a:srgbClr val="6C63FF">
                <a:alpha val="49804"/>
              </a:srgbClr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US"/>
          </a:p>
        </p:txBody>
      </p:sp>
      <p:sp>
        <p:nvSpPr>
          <p:cNvPr id="16" name="TextBox 16"/>
          <p:cNvSpPr txBox="1"/>
          <p:nvPr/>
        </p:nvSpPr>
        <p:spPr>
          <a:xfrm>
            <a:off x="6638925" y="3829050"/>
            <a:ext cx="5010150" cy="198120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3056"/>
              </a:lnSpc>
              <a:spcBef>
                <a:spcPct val="0"/>
              </a:spcBef>
            </a:pPr>
            <a:r>
              <a:rPr lang="en-US" sz="1910" b="1" u="none" strike="noStrike">
                <a:solidFill>
                  <a:srgbClr val="C8C8D8"/>
                </a:solidFill>
                <a:latin typeface="Inter Bold"/>
                <a:ea typeface="Inter Bold"/>
                <a:cs typeface="Inter Bold"/>
                <a:sym typeface="Inter Bold"/>
              </a:rPr>
              <a:t>Sales reps</a:t>
            </a:r>
          </a:p>
          <a:p>
            <a:pPr marL="0" lvl="0" indent="0" algn="l">
              <a:lnSpc>
                <a:spcPts val="3056"/>
              </a:lnSpc>
              <a:spcBef>
                <a:spcPct val="0"/>
              </a:spcBef>
            </a:pPr>
            <a:r>
              <a:rPr lang="en-US" sz="1910" u="none" strike="noStrike">
                <a:solidFill>
                  <a:srgbClr val="C8C8D8"/>
                </a:solidFill>
                <a:latin typeface="Inter"/>
                <a:ea typeface="Inter"/>
                <a:cs typeface="Inter"/>
                <a:sym typeface="Inter"/>
              </a:rPr>
              <a:t>•  Prep before calls, coach live on the phone</a:t>
            </a:r>
          </a:p>
          <a:p>
            <a:pPr marL="0" lvl="0" indent="0" algn="l">
              <a:lnSpc>
                <a:spcPts val="3056"/>
              </a:lnSpc>
              <a:spcBef>
                <a:spcPct val="0"/>
              </a:spcBef>
            </a:pPr>
            <a:endParaRPr lang="en-US" sz="1910" u="none" strike="noStrike">
              <a:solidFill>
                <a:srgbClr val="C8C8D8"/>
              </a:solidFill>
              <a:latin typeface="Inter"/>
              <a:ea typeface="Inter"/>
              <a:cs typeface="Inter"/>
              <a:sym typeface="Inter"/>
            </a:endParaRPr>
          </a:p>
          <a:p>
            <a:pPr marL="0" lvl="0" indent="0" algn="l">
              <a:lnSpc>
                <a:spcPts val="3056"/>
              </a:lnSpc>
              <a:spcBef>
                <a:spcPct val="0"/>
              </a:spcBef>
            </a:pPr>
            <a:r>
              <a:rPr lang="en-US" sz="1910" b="1" u="none" strike="noStrike">
                <a:solidFill>
                  <a:srgbClr val="C8C8D8"/>
                </a:solidFill>
                <a:latin typeface="Inter Bold"/>
                <a:ea typeface="Inter Bold"/>
                <a:cs typeface="Inter Bold"/>
                <a:sym typeface="Inter Bold"/>
              </a:rPr>
              <a:t>Managers / team leads</a:t>
            </a:r>
          </a:p>
          <a:p>
            <a:pPr marL="0" lvl="0" indent="0" algn="l">
              <a:lnSpc>
                <a:spcPts val="3056"/>
              </a:lnSpc>
              <a:spcBef>
                <a:spcPct val="0"/>
              </a:spcBef>
            </a:pPr>
            <a:r>
              <a:rPr lang="en-US" sz="1910" u="none" strike="noStrike">
                <a:solidFill>
                  <a:srgbClr val="C8C8D8"/>
                </a:solidFill>
                <a:latin typeface="Inter"/>
                <a:ea typeface="Inter"/>
                <a:cs typeface="Inter"/>
                <a:sym typeface="Inter"/>
              </a:rPr>
              <a:t>•  Call-update emails + gap visibility</a:t>
            </a:r>
          </a:p>
        </p:txBody>
      </p:sp>
      <p:sp>
        <p:nvSpPr>
          <p:cNvPr id="17" name="TextBox 17"/>
          <p:cNvSpPr txBox="1"/>
          <p:nvPr/>
        </p:nvSpPr>
        <p:spPr>
          <a:xfrm>
            <a:off x="12315825" y="3228975"/>
            <a:ext cx="5010150" cy="4857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3747"/>
              </a:lnSpc>
              <a:spcBef>
                <a:spcPct val="0"/>
              </a:spcBef>
            </a:pPr>
            <a:r>
              <a:rPr lang="en-US" sz="2676" u="none" strike="noStrike">
                <a:solidFill>
                  <a:srgbClr val="6C63FF"/>
                </a:solidFill>
                <a:latin typeface="Telegraf"/>
                <a:ea typeface="Telegraf"/>
                <a:cs typeface="Telegraf"/>
                <a:sym typeface="Telegraf"/>
              </a:rPr>
              <a:t>🤖  THE SOLUTION</a:t>
            </a:r>
          </a:p>
        </p:txBody>
      </p:sp>
      <p:sp>
        <p:nvSpPr>
          <p:cNvPr id="18" name="AutoShape 18"/>
          <p:cNvSpPr/>
          <p:nvPr/>
        </p:nvSpPr>
        <p:spPr>
          <a:xfrm>
            <a:off x="12315825" y="3810000"/>
            <a:ext cx="5010150" cy="0"/>
          </a:xfrm>
          <a:prstGeom prst="line">
            <a:avLst/>
          </a:prstGeom>
          <a:ln w="19050" cap="rnd">
            <a:solidFill>
              <a:srgbClr val="6C63FF">
                <a:alpha val="49804"/>
              </a:srgbClr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US"/>
          </a:p>
        </p:txBody>
      </p:sp>
      <p:sp>
        <p:nvSpPr>
          <p:cNvPr id="19" name="TextBox 19"/>
          <p:cNvSpPr txBox="1"/>
          <p:nvPr/>
        </p:nvSpPr>
        <p:spPr>
          <a:xfrm>
            <a:off x="12315825" y="3819525"/>
            <a:ext cx="5010150" cy="314021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3143"/>
              </a:lnSpc>
              <a:spcBef>
                <a:spcPct val="0"/>
              </a:spcBef>
            </a:pPr>
            <a:r>
              <a:rPr lang="en-US" sz="1964" u="none" strike="noStrike" dirty="0">
                <a:solidFill>
                  <a:srgbClr val="C8C8D8"/>
                </a:solidFill>
                <a:latin typeface="Inter"/>
                <a:ea typeface="Inter"/>
                <a:cs typeface="Inter"/>
                <a:sym typeface="Inter"/>
              </a:rPr>
              <a:t>•  Web AI coach — </a:t>
            </a:r>
            <a:r>
              <a:rPr lang="en-US" sz="1964" b="1" u="none" strike="noStrike" dirty="0">
                <a:solidFill>
                  <a:srgbClr val="C8C8D8"/>
                </a:solidFill>
                <a:latin typeface="Inter Bold"/>
                <a:ea typeface="Inter Bold"/>
                <a:cs typeface="Inter Bold"/>
                <a:sym typeface="Inter Bold"/>
              </a:rPr>
              <a:t>approved KB only</a:t>
            </a:r>
          </a:p>
          <a:p>
            <a:pPr marL="0" lvl="0" indent="0" algn="l">
              <a:lnSpc>
                <a:spcPts val="3143"/>
              </a:lnSpc>
              <a:spcBef>
                <a:spcPct val="0"/>
              </a:spcBef>
            </a:pPr>
            <a:endParaRPr lang="en-US" sz="1964" b="1" u="none" strike="noStrike" dirty="0">
              <a:solidFill>
                <a:srgbClr val="C8C8D8"/>
              </a:solidFill>
              <a:latin typeface="Inter Bold"/>
              <a:ea typeface="Inter Bold"/>
              <a:cs typeface="Inter Bold"/>
              <a:sym typeface="Inter Bold"/>
            </a:endParaRPr>
          </a:p>
          <a:p>
            <a:pPr marL="0" lvl="0" indent="0" algn="l">
              <a:lnSpc>
                <a:spcPts val="3143"/>
              </a:lnSpc>
              <a:spcBef>
                <a:spcPct val="0"/>
              </a:spcBef>
            </a:pPr>
            <a:r>
              <a:rPr lang="en-US" sz="1964" u="none" strike="noStrike" dirty="0">
                <a:solidFill>
                  <a:srgbClr val="C8C8D8"/>
                </a:solidFill>
                <a:latin typeface="Inter"/>
                <a:ea typeface="Inter"/>
                <a:cs typeface="Inter"/>
                <a:sym typeface="Inter"/>
              </a:rPr>
              <a:t>•  </a:t>
            </a:r>
            <a:r>
              <a:rPr lang="en-US" sz="1964" b="1" u="none" strike="noStrike" dirty="0">
                <a:solidFill>
                  <a:srgbClr val="C8C8D8"/>
                </a:solidFill>
                <a:latin typeface="Inter Bold"/>
                <a:ea typeface="Inter Bold"/>
                <a:cs typeface="Inter Bold"/>
                <a:sym typeface="Inter Bold"/>
              </a:rPr>
              <a:t>PREP</a:t>
            </a:r>
            <a:r>
              <a:rPr lang="en-US" sz="1964" u="none" strike="noStrike" dirty="0">
                <a:solidFill>
                  <a:srgbClr val="C8C8D8"/>
                </a:solidFill>
                <a:latin typeface="Inter"/>
                <a:ea typeface="Inter"/>
                <a:cs typeface="Inter"/>
                <a:sym typeface="Inter"/>
              </a:rPr>
              <a:t> — prospect, objections, product facts</a:t>
            </a:r>
          </a:p>
          <a:p>
            <a:pPr marL="0" lvl="0" indent="0" algn="l">
              <a:lnSpc>
                <a:spcPts val="3143"/>
              </a:lnSpc>
              <a:spcBef>
                <a:spcPct val="0"/>
              </a:spcBef>
            </a:pPr>
            <a:endParaRPr lang="en-US" sz="1964" u="none" strike="noStrike" dirty="0">
              <a:solidFill>
                <a:srgbClr val="C8C8D8"/>
              </a:solidFill>
              <a:latin typeface="Inter"/>
              <a:ea typeface="Inter"/>
              <a:cs typeface="Inter"/>
              <a:sym typeface="Inter"/>
            </a:endParaRPr>
          </a:p>
          <a:p>
            <a:pPr marL="0" lvl="0" indent="0" algn="l">
              <a:lnSpc>
                <a:spcPts val="3143"/>
              </a:lnSpc>
              <a:spcBef>
                <a:spcPct val="0"/>
              </a:spcBef>
            </a:pPr>
            <a:r>
              <a:rPr lang="en-US" sz="1964" u="none" strike="noStrike" dirty="0">
                <a:solidFill>
                  <a:srgbClr val="C8C8D8"/>
                </a:solidFill>
                <a:latin typeface="Inter"/>
                <a:ea typeface="Inter"/>
                <a:cs typeface="Inter"/>
                <a:sym typeface="Inter"/>
              </a:rPr>
              <a:t>•  </a:t>
            </a:r>
            <a:r>
              <a:rPr lang="en-US" sz="1964" b="1" u="none" strike="noStrike" dirty="0">
                <a:solidFill>
                  <a:srgbClr val="C8C8D8"/>
                </a:solidFill>
                <a:latin typeface="Inter Bold"/>
                <a:ea typeface="Inter Bold"/>
                <a:cs typeface="Inter Bold"/>
                <a:sym typeface="Inter Bold"/>
              </a:rPr>
              <a:t>LIVE</a:t>
            </a:r>
            <a:r>
              <a:rPr lang="en-US" sz="1964" u="none" strike="noStrike" dirty="0">
                <a:solidFill>
                  <a:srgbClr val="C8C8D8"/>
                </a:solidFill>
                <a:latin typeface="Inter"/>
                <a:ea typeface="Inter"/>
                <a:cs typeface="Inter"/>
                <a:sym typeface="Inter"/>
              </a:rPr>
              <a:t> — 4 bullets + Next move</a:t>
            </a:r>
          </a:p>
          <a:p>
            <a:pPr marL="0" lvl="0" indent="0" algn="l">
              <a:lnSpc>
                <a:spcPts val="3143"/>
              </a:lnSpc>
              <a:spcBef>
                <a:spcPct val="0"/>
              </a:spcBef>
            </a:pPr>
            <a:endParaRPr lang="en-US" sz="1964" u="none" strike="noStrike" dirty="0">
              <a:solidFill>
                <a:srgbClr val="C8C8D8"/>
              </a:solidFill>
              <a:latin typeface="Inter"/>
              <a:ea typeface="Inter"/>
              <a:cs typeface="Inter"/>
              <a:sym typeface="Inter"/>
            </a:endParaRPr>
          </a:p>
          <a:p>
            <a:pPr marL="0" lvl="0" indent="0" algn="l">
              <a:lnSpc>
                <a:spcPts val="3143"/>
              </a:lnSpc>
              <a:spcBef>
                <a:spcPct val="0"/>
              </a:spcBef>
            </a:pPr>
            <a:r>
              <a:rPr lang="en-US" sz="1964" u="none" strike="noStrike" dirty="0">
                <a:solidFill>
                  <a:srgbClr val="C8C8D8"/>
                </a:solidFill>
                <a:latin typeface="Inter"/>
                <a:ea typeface="Inter"/>
                <a:cs typeface="Inter"/>
                <a:sym typeface="Inter"/>
              </a:rPr>
              <a:t>•  Tools: calendar · company search ·email</a:t>
            </a:r>
          </a:p>
        </p:txBody>
      </p:sp>
      <p:grpSp>
        <p:nvGrpSpPr>
          <p:cNvPr id="20" name="Group 20"/>
          <p:cNvGrpSpPr/>
          <p:nvPr/>
        </p:nvGrpSpPr>
        <p:grpSpPr>
          <a:xfrm>
            <a:off x="762000" y="9144000"/>
            <a:ext cx="16764000" cy="762000"/>
            <a:chOff x="0" y="0"/>
            <a:chExt cx="22352000" cy="1016000"/>
          </a:xfrm>
        </p:grpSpPr>
        <p:sp>
          <p:nvSpPr>
            <p:cNvPr id="21" name="Freeform 21"/>
            <p:cNvSpPr/>
            <p:nvPr/>
          </p:nvSpPr>
          <p:spPr>
            <a:xfrm>
              <a:off x="0" y="0"/>
              <a:ext cx="22352000" cy="1016000"/>
            </a:xfrm>
            <a:custGeom>
              <a:avLst/>
              <a:gdLst/>
              <a:ahLst/>
              <a:cxnLst/>
              <a:rect l="l" t="t" r="r" b="b"/>
              <a:pathLst>
                <a:path w="22352000" h="1016000">
                  <a:moveTo>
                    <a:pt x="114300" y="0"/>
                  </a:moveTo>
                  <a:lnTo>
                    <a:pt x="22237700" y="0"/>
                  </a:lnTo>
                  <a:cubicBezTo>
                    <a:pt x="22300826" y="0"/>
                    <a:pt x="22352000" y="45488"/>
                    <a:pt x="22352000" y="101600"/>
                  </a:cubicBezTo>
                  <a:lnTo>
                    <a:pt x="22352000" y="914400"/>
                  </a:lnTo>
                  <a:cubicBezTo>
                    <a:pt x="22352000" y="970512"/>
                    <a:pt x="22300826" y="1016000"/>
                    <a:pt x="22237700" y="1016000"/>
                  </a:cubicBezTo>
                  <a:lnTo>
                    <a:pt x="114300" y="1016000"/>
                  </a:lnTo>
                  <a:cubicBezTo>
                    <a:pt x="51174" y="1016000"/>
                    <a:pt x="0" y="970512"/>
                    <a:pt x="0" y="914400"/>
                  </a:cubicBezTo>
                  <a:lnTo>
                    <a:pt x="0" y="101600"/>
                  </a:lnTo>
                  <a:cubicBezTo>
                    <a:pt x="0" y="45488"/>
                    <a:pt x="51174" y="0"/>
                    <a:pt x="114300" y="0"/>
                  </a:cubicBezTo>
                  <a:close/>
                </a:path>
              </a:pathLst>
            </a:custGeom>
            <a:solidFill>
              <a:srgbClr val="1A1A2E">
                <a:alpha val="69804"/>
              </a:srgbClr>
            </a:solidFill>
            <a:ln w="9525" cap="sq">
              <a:solidFill>
                <a:srgbClr val="6C63FF">
                  <a:alpha val="69804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22" name="TextBox 22"/>
          <p:cNvSpPr txBox="1"/>
          <p:nvPr/>
        </p:nvSpPr>
        <p:spPr>
          <a:xfrm>
            <a:off x="952500" y="9382125"/>
            <a:ext cx="3810000" cy="24765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1874"/>
              </a:lnSpc>
              <a:spcBef>
                <a:spcPct val="0"/>
              </a:spcBef>
            </a:pPr>
            <a:r>
              <a:rPr lang="en-US" sz="1338" u="none" strike="noStrike">
                <a:solidFill>
                  <a:srgbClr val="C8C8D8"/>
                </a:solidFill>
                <a:latin typeface="Inter"/>
                <a:ea typeface="Inter"/>
                <a:cs typeface="Inter"/>
                <a:sym typeface="Inter"/>
              </a:rPr>
              <a:t>⚡  One question replaces long hours of digging</a:t>
            </a:r>
          </a:p>
        </p:txBody>
      </p:sp>
      <p:sp>
        <p:nvSpPr>
          <p:cNvPr id="23" name="TextBox 23"/>
          <p:cNvSpPr txBox="1"/>
          <p:nvPr/>
        </p:nvSpPr>
        <p:spPr>
          <a:xfrm>
            <a:off x="5143500" y="9382125"/>
            <a:ext cx="3810000" cy="24066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1960"/>
              </a:lnSpc>
              <a:spcBef>
                <a:spcPct val="0"/>
              </a:spcBef>
            </a:pPr>
            <a:r>
              <a:rPr lang="en-US" sz="1400" u="none" strike="noStrike">
                <a:solidFill>
                  <a:srgbClr val="C8C8D8"/>
                </a:solidFill>
                <a:latin typeface="Inter"/>
                <a:ea typeface="Inter"/>
                <a:cs typeface="Inter"/>
                <a:sym typeface="Inter"/>
              </a:rPr>
              <a:t>🗣️  Reps keep talking — don't freeze</a:t>
            </a:r>
          </a:p>
        </p:txBody>
      </p:sp>
      <p:sp>
        <p:nvSpPr>
          <p:cNvPr id="24" name="TextBox 24"/>
          <p:cNvSpPr txBox="1"/>
          <p:nvPr/>
        </p:nvSpPr>
        <p:spPr>
          <a:xfrm>
            <a:off x="9334500" y="9382125"/>
            <a:ext cx="3810000" cy="24066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1960"/>
              </a:lnSpc>
              <a:spcBef>
                <a:spcPct val="0"/>
              </a:spcBef>
            </a:pPr>
            <a:r>
              <a:rPr lang="en-US" sz="1400" u="none" strike="noStrike">
                <a:solidFill>
                  <a:srgbClr val="C8C8D8"/>
                </a:solidFill>
                <a:latin typeface="Inter"/>
                <a:ea typeface="Inter"/>
                <a:cs typeface="Inter"/>
                <a:sym typeface="Inter"/>
              </a:rPr>
              <a:t>📎  Grounded answers with citations</a:t>
            </a:r>
          </a:p>
        </p:txBody>
      </p:sp>
      <p:sp>
        <p:nvSpPr>
          <p:cNvPr id="25" name="TextBox 25"/>
          <p:cNvSpPr txBox="1"/>
          <p:nvPr/>
        </p:nvSpPr>
        <p:spPr>
          <a:xfrm>
            <a:off x="13525500" y="9382125"/>
            <a:ext cx="3810000" cy="24066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1960"/>
              </a:lnSpc>
              <a:spcBef>
                <a:spcPct val="0"/>
              </a:spcBef>
            </a:pPr>
            <a:r>
              <a:rPr lang="en-US" sz="1400" u="none" strike="noStrike">
                <a:solidFill>
                  <a:srgbClr val="C8C8D8"/>
                </a:solidFill>
                <a:latin typeface="Inter"/>
                <a:ea typeface="Inter"/>
                <a:cs typeface="Inter"/>
                <a:sym typeface="Inter"/>
              </a:rPr>
              <a:t>📝  Missing knowledge auto-logged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0A1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meet_betty">
            <a:hlinkClick r:id="" action="ppaction://media"/>
            <a:extLst>
              <a:ext uri="{FF2B5EF4-FFF2-40B4-BE49-F238E27FC236}">
                <a16:creationId xmlns:a16="http://schemas.microsoft.com/office/drawing/2014/main" id="{E8F57FE3-B1C9-F018-4837-B6645F8F4932}"/>
              </a:ext>
            </a:extLst>
          </p:cNvPr>
          <p:cNvPicPr>
            <a:picLocks noChangeAspect="1"/>
          </p:cNvPicPr>
          <p:nvPr>
            <a:vide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62175" fill="hold"/>
                                        <p:tgtEl>
                                          <p:spTgt spid="2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video>
              <p:cMediaNode vol="80000">
                <p:cTn id="7" fill="hold" display="0">
                  <p:stCondLst>
                    <p:cond delay="indefinite"/>
                  </p:stCondLst>
                </p:cTn>
                <p:tgtEl>
                  <p:spTgt spid="2"/>
                </p:tgtEl>
              </p:cMediaNode>
            </p:video>
            <p:seq concurrent="1" nextAc="seek">
              <p:cTn id="8" restart="whenNotActive" fill="hold" evtFilter="cancelBubble" nodeType="interactiveSeq">
                <p:stCondLst>
                  <p:cond evt="onClick" delay="0">
                    <p:tgtEl>
                      <p:spTgt spid="2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9" fill="hold">
                      <p:stCondLst>
                        <p:cond delay="0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togglePause">
                                      <p:cBhvr>
                                        <p:cTn id="12" dur="1" fill="hold"/>
                                        <p:tgtEl>
                                          <p:spTgt spid="2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2"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-1507" t="-1049" r="-1507" b="-1049"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3" name="TextBox 3"/>
          <p:cNvSpPr txBox="1"/>
          <p:nvPr/>
        </p:nvSpPr>
        <p:spPr>
          <a:xfrm>
            <a:off x="5334000" y="419100"/>
            <a:ext cx="7620000" cy="94424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7279"/>
              </a:lnSpc>
              <a:spcBef>
                <a:spcPct val="0"/>
              </a:spcBef>
            </a:pPr>
            <a:r>
              <a:rPr lang="en-US" sz="5199" u="none" strike="noStrike">
                <a:solidFill>
                  <a:srgbClr val="FFFFFF"/>
                </a:solidFill>
                <a:latin typeface="Telegraf"/>
                <a:ea typeface="Telegraf"/>
                <a:cs typeface="Telegraf"/>
                <a:sym typeface="Telegraf"/>
              </a:rPr>
              <a:t>Technologies Used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6286500" y="1325245"/>
            <a:ext cx="5715000" cy="30670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2520"/>
              </a:lnSpc>
              <a:spcBef>
                <a:spcPct val="0"/>
              </a:spcBef>
            </a:pPr>
            <a:r>
              <a:rPr lang="en-US" sz="1800" u="none" strike="noStrike">
                <a:solidFill>
                  <a:srgbClr val="A0A0B8"/>
                </a:solidFill>
                <a:latin typeface="Inter"/>
                <a:ea typeface="Inter"/>
                <a:cs typeface="Inter"/>
                <a:sym typeface="Inter"/>
              </a:rPr>
              <a:t>Tech stack powering RepReady</a:t>
            </a:r>
          </a:p>
        </p:txBody>
      </p:sp>
      <p:grpSp>
        <p:nvGrpSpPr>
          <p:cNvPr id="5" name="Group 5"/>
          <p:cNvGrpSpPr/>
          <p:nvPr/>
        </p:nvGrpSpPr>
        <p:grpSpPr>
          <a:xfrm>
            <a:off x="762000" y="4572000"/>
            <a:ext cx="4048125" cy="1143000"/>
            <a:chOff x="0" y="0"/>
            <a:chExt cx="5397500" cy="1524000"/>
          </a:xfrm>
        </p:grpSpPr>
        <p:sp>
          <p:nvSpPr>
            <p:cNvPr id="6" name="Freeform 6"/>
            <p:cNvSpPr/>
            <p:nvPr/>
          </p:nvSpPr>
          <p:spPr>
            <a:xfrm>
              <a:off x="0" y="0"/>
              <a:ext cx="5397500" cy="1524000"/>
            </a:xfrm>
            <a:custGeom>
              <a:avLst/>
              <a:gdLst/>
              <a:ahLst/>
              <a:cxnLst/>
              <a:rect l="l" t="t" r="r" b="b"/>
              <a:pathLst>
                <a:path w="5397500" h="1524000">
                  <a:moveTo>
                    <a:pt x="508000" y="0"/>
                  </a:moveTo>
                  <a:lnTo>
                    <a:pt x="4889500" y="0"/>
                  </a:lnTo>
                  <a:cubicBezTo>
                    <a:pt x="5170061" y="0"/>
                    <a:pt x="5397500" y="68232"/>
                    <a:pt x="5397500" y="152400"/>
                  </a:cubicBezTo>
                  <a:lnTo>
                    <a:pt x="5397500" y="1371600"/>
                  </a:lnTo>
                  <a:cubicBezTo>
                    <a:pt x="5397500" y="1455768"/>
                    <a:pt x="5170061" y="1524000"/>
                    <a:pt x="4889500" y="1524000"/>
                  </a:cubicBezTo>
                  <a:lnTo>
                    <a:pt x="508000" y="1524000"/>
                  </a:lnTo>
                  <a:cubicBezTo>
                    <a:pt x="227439" y="1524000"/>
                    <a:pt x="0" y="1455768"/>
                    <a:pt x="0" y="1371600"/>
                  </a:cubicBezTo>
                  <a:lnTo>
                    <a:pt x="0" y="152400"/>
                  </a:lnTo>
                  <a:cubicBezTo>
                    <a:pt x="0" y="68232"/>
                    <a:pt x="227439" y="0"/>
                    <a:pt x="508000" y="0"/>
                  </a:cubicBezTo>
                  <a:close/>
                </a:path>
              </a:pathLst>
            </a:custGeom>
            <a:solidFill>
              <a:srgbClr val="1A1A2E">
                <a:alpha val="80000"/>
              </a:srgbClr>
            </a:solidFill>
            <a:ln w="9525" cap="sq">
              <a:solidFill>
                <a:srgbClr val="6C63FF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7" name="TextBox 7"/>
          <p:cNvSpPr txBox="1"/>
          <p:nvPr/>
        </p:nvSpPr>
        <p:spPr>
          <a:xfrm>
            <a:off x="952500" y="4686300"/>
            <a:ext cx="3667125" cy="3778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2800"/>
              </a:lnSpc>
              <a:spcBef>
                <a:spcPct val="0"/>
              </a:spcBef>
            </a:pPr>
            <a:r>
              <a:rPr lang="en-US" sz="2000" u="none" strike="noStrike">
                <a:solidFill>
                  <a:srgbClr val="6C63FF"/>
                </a:solidFill>
                <a:latin typeface="Telegraf"/>
                <a:ea typeface="Telegraf"/>
                <a:cs typeface="Telegraf"/>
                <a:sym typeface="Telegraf"/>
              </a:rPr>
              <a:t>🐍  PYTHON</a:t>
            </a:r>
          </a:p>
        </p:txBody>
      </p:sp>
      <p:sp>
        <p:nvSpPr>
          <p:cNvPr id="8" name="TextBox 8"/>
          <p:cNvSpPr txBox="1"/>
          <p:nvPr/>
        </p:nvSpPr>
        <p:spPr>
          <a:xfrm>
            <a:off x="952500" y="5048250"/>
            <a:ext cx="3667125" cy="57721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2399"/>
              </a:lnSpc>
              <a:spcBef>
                <a:spcPct val="0"/>
              </a:spcBef>
            </a:pPr>
            <a:r>
              <a:rPr lang="en-US" sz="1599" u="none" strike="noStrike">
                <a:solidFill>
                  <a:srgbClr val="C8C8D8"/>
                </a:solidFill>
                <a:latin typeface="Inter"/>
                <a:ea typeface="Inter"/>
                <a:cs typeface="Inter"/>
                <a:sym typeface="Inter"/>
              </a:rPr>
              <a:t>Core backend — Flask server, Bedrock client, routing logic</a:t>
            </a:r>
          </a:p>
        </p:txBody>
      </p:sp>
      <p:grpSp>
        <p:nvGrpSpPr>
          <p:cNvPr id="9" name="Group 9"/>
          <p:cNvGrpSpPr/>
          <p:nvPr/>
        </p:nvGrpSpPr>
        <p:grpSpPr>
          <a:xfrm>
            <a:off x="5000625" y="4572000"/>
            <a:ext cx="4048125" cy="1143000"/>
            <a:chOff x="0" y="0"/>
            <a:chExt cx="5397500" cy="1524000"/>
          </a:xfrm>
        </p:grpSpPr>
        <p:sp>
          <p:nvSpPr>
            <p:cNvPr id="10" name="Freeform 10"/>
            <p:cNvSpPr/>
            <p:nvPr/>
          </p:nvSpPr>
          <p:spPr>
            <a:xfrm>
              <a:off x="0" y="0"/>
              <a:ext cx="5397500" cy="1524000"/>
            </a:xfrm>
            <a:custGeom>
              <a:avLst/>
              <a:gdLst/>
              <a:ahLst/>
              <a:cxnLst/>
              <a:rect l="l" t="t" r="r" b="b"/>
              <a:pathLst>
                <a:path w="5397500" h="1524000">
                  <a:moveTo>
                    <a:pt x="508000" y="0"/>
                  </a:moveTo>
                  <a:lnTo>
                    <a:pt x="4889500" y="0"/>
                  </a:lnTo>
                  <a:cubicBezTo>
                    <a:pt x="5170061" y="0"/>
                    <a:pt x="5397500" y="68232"/>
                    <a:pt x="5397500" y="152400"/>
                  </a:cubicBezTo>
                  <a:lnTo>
                    <a:pt x="5397500" y="1371600"/>
                  </a:lnTo>
                  <a:cubicBezTo>
                    <a:pt x="5397500" y="1455768"/>
                    <a:pt x="5170061" y="1524000"/>
                    <a:pt x="4889500" y="1524000"/>
                  </a:cubicBezTo>
                  <a:lnTo>
                    <a:pt x="508000" y="1524000"/>
                  </a:lnTo>
                  <a:cubicBezTo>
                    <a:pt x="227439" y="1524000"/>
                    <a:pt x="0" y="1455768"/>
                    <a:pt x="0" y="1371600"/>
                  </a:cubicBezTo>
                  <a:lnTo>
                    <a:pt x="0" y="152400"/>
                  </a:lnTo>
                  <a:cubicBezTo>
                    <a:pt x="0" y="68232"/>
                    <a:pt x="227439" y="0"/>
                    <a:pt x="508000" y="0"/>
                  </a:cubicBezTo>
                  <a:close/>
                </a:path>
              </a:pathLst>
            </a:custGeom>
            <a:solidFill>
              <a:srgbClr val="1A1A2E">
                <a:alpha val="80000"/>
              </a:srgbClr>
            </a:solidFill>
            <a:ln w="9525" cap="sq">
              <a:solidFill>
                <a:srgbClr val="6C63FF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11" name="TextBox 11"/>
          <p:cNvSpPr txBox="1"/>
          <p:nvPr/>
        </p:nvSpPr>
        <p:spPr>
          <a:xfrm>
            <a:off x="5191125" y="4686300"/>
            <a:ext cx="3667125" cy="3778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2800"/>
              </a:lnSpc>
              <a:spcBef>
                <a:spcPct val="0"/>
              </a:spcBef>
            </a:pPr>
            <a:r>
              <a:rPr lang="en-US" sz="2000" u="none" strike="noStrike">
                <a:solidFill>
                  <a:srgbClr val="6C63FF"/>
                </a:solidFill>
                <a:latin typeface="Telegraf"/>
                <a:ea typeface="Telegraf"/>
                <a:cs typeface="Telegraf"/>
                <a:sym typeface="Telegraf"/>
              </a:rPr>
              <a:t>🌐  FLASK</a:t>
            </a:r>
          </a:p>
        </p:txBody>
      </p:sp>
      <p:sp>
        <p:nvSpPr>
          <p:cNvPr id="12" name="TextBox 12"/>
          <p:cNvSpPr txBox="1"/>
          <p:nvPr/>
        </p:nvSpPr>
        <p:spPr>
          <a:xfrm>
            <a:off x="5191125" y="5048250"/>
            <a:ext cx="3667125" cy="58689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2399"/>
              </a:lnSpc>
              <a:spcBef>
                <a:spcPct val="0"/>
              </a:spcBef>
            </a:pPr>
            <a:r>
              <a:rPr lang="en-US" sz="1599" u="none" strike="noStrike" dirty="0">
                <a:solidFill>
                  <a:srgbClr val="C8C8D8"/>
                </a:solidFill>
                <a:latin typeface="Inter"/>
                <a:ea typeface="Inter"/>
                <a:cs typeface="Inter"/>
                <a:sym typeface="Inter"/>
              </a:rPr>
              <a:t>Web UI + POST /chat endpoint, /gaps dashboard</a:t>
            </a:r>
          </a:p>
        </p:txBody>
      </p:sp>
      <p:grpSp>
        <p:nvGrpSpPr>
          <p:cNvPr id="13" name="Group 13"/>
          <p:cNvGrpSpPr/>
          <p:nvPr/>
        </p:nvGrpSpPr>
        <p:grpSpPr>
          <a:xfrm>
            <a:off x="9239250" y="4572000"/>
            <a:ext cx="4048125" cy="1143000"/>
            <a:chOff x="0" y="0"/>
            <a:chExt cx="5397500" cy="1524000"/>
          </a:xfrm>
        </p:grpSpPr>
        <p:sp>
          <p:nvSpPr>
            <p:cNvPr id="14" name="Freeform 14"/>
            <p:cNvSpPr/>
            <p:nvPr/>
          </p:nvSpPr>
          <p:spPr>
            <a:xfrm>
              <a:off x="0" y="0"/>
              <a:ext cx="5397500" cy="1524000"/>
            </a:xfrm>
            <a:custGeom>
              <a:avLst/>
              <a:gdLst/>
              <a:ahLst/>
              <a:cxnLst/>
              <a:rect l="l" t="t" r="r" b="b"/>
              <a:pathLst>
                <a:path w="5397500" h="1524000">
                  <a:moveTo>
                    <a:pt x="508000" y="0"/>
                  </a:moveTo>
                  <a:lnTo>
                    <a:pt x="4889500" y="0"/>
                  </a:lnTo>
                  <a:cubicBezTo>
                    <a:pt x="5170061" y="0"/>
                    <a:pt x="5397500" y="68232"/>
                    <a:pt x="5397500" y="152400"/>
                  </a:cubicBezTo>
                  <a:lnTo>
                    <a:pt x="5397500" y="1371600"/>
                  </a:lnTo>
                  <a:cubicBezTo>
                    <a:pt x="5397500" y="1455768"/>
                    <a:pt x="5170061" y="1524000"/>
                    <a:pt x="4889500" y="1524000"/>
                  </a:cubicBezTo>
                  <a:lnTo>
                    <a:pt x="508000" y="1524000"/>
                  </a:lnTo>
                  <a:cubicBezTo>
                    <a:pt x="227439" y="1524000"/>
                    <a:pt x="0" y="1455768"/>
                    <a:pt x="0" y="1371600"/>
                  </a:cubicBezTo>
                  <a:lnTo>
                    <a:pt x="0" y="152400"/>
                  </a:lnTo>
                  <a:cubicBezTo>
                    <a:pt x="0" y="68232"/>
                    <a:pt x="227439" y="0"/>
                    <a:pt x="508000" y="0"/>
                  </a:cubicBezTo>
                  <a:close/>
                </a:path>
              </a:pathLst>
            </a:custGeom>
            <a:solidFill>
              <a:srgbClr val="1A1A2E">
                <a:alpha val="80000"/>
              </a:srgbClr>
            </a:solidFill>
            <a:ln w="9525" cap="sq">
              <a:solidFill>
                <a:srgbClr val="6C63FF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15" name="TextBox 15"/>
          <p:cNvSpPr txBox="1"/>
          <p:nvPr/>
        </p:nvSpPr>
        <p:spPr>
          <a:xfrm>
            <a:off x="9429750" y="4686300"/>
            <a:ext cx="3667125" cy="3778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2800"/>
              </a:lnSpc>
              <a:spcBef>
                <a:spcPct val="0"/>
              </a:spcBef>
            </a:pPr>
            <a:r>
              <a:rPr lang="en-US" sz="2000" u="none" strike="noStrike">
                <a:solidFill>
                  <a:srgbClr val="6C63FF"/>
                </a:solidFill>
                <a:latin typeface="Telegraf"/>
                <a:ea typeface="Telegraf"/>
                <a:cs typeface="Telegraf"/>
                <a:sym typeface="Telegraf"/>
              </a:rPr>
              <a:t>📚  RAG</a:t>
            </a:r>
          </a:p>
        </p:txBody>
      </p:sp>
      <p:sp>
        <p:nvSpPr>
          <p:cNvPr id="16" name="TextBox 16"/>
          <p:cNvSpPr txBox="1"/>
          <p:nvPr/>
        </p:nvSpPr>
        <p:spPr>
          <a:xfrm>
            <a:off x="9429750" y="5048250"/>
            <a:ext cx="3667125" cy="58689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2399"/>
              </a:lnSpc>
              <a:spcBef>
                <a:spcPct val="0"/>
              </a:spcBef>
            </a:pPr>
            <a:r>
              <a:rPr lang="en-US" sz="1599" u="none" strike="noStrike" dirty="0">
                <a:solidFill>
                  <a:srgbClr val="C8C8D8"/>
                </a:solidFill>
                <a:latin typeface="Inter"/>
                <a:ea typeface="Inter"/>
                <a:cs typeface="Inter"/>
                <a:sym typeface="Inter"/>
              </a:rPr>
              <a:t>AWS Bedrock KB — S3 docs prod</a:t>
            </a:r>
            <a:r>
              <a:rPr lang="en-US" sz="1599" dirty="0">
                <a:solidFill>
                  <a:srgbClr val="C8C8D8"/>
                </a:solidFill>
                <a:latin typeface="Inter"/>
                <a:ea typeface="Inter"/>
                <a:cs typeface="Inter"/>
                <a:sym typeface="Inter"/>
              </a:rPr>
              <a:t>ucts + customer notes</a:t>
            </a:r>
            <a:endParaRPr lang="en-US" sz="1599" u="none" strike="noStrike" dirty="0">
              <a:solidFill>
                <a:srgbClr val="C8C8D8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grpSp>
        <p:nvGrpSpPr>
          <p:cNvPr id="17" name="Group 17"/>
          <p:cNvGrpSpPr/>
          <p:nvPr/>
        </p:nvGrpSpPr>
        <p:grpSpPr>
          <a:xfrm>
            <a:off x="13477875" y="4572000"/>
            <a:ext cx="4048125" cy="1143000"/>
            <a:chOff x="0" y="0"/>
            <a:chExt cx="5397500" cy="1524000"/>
          </a:xfrm>
        </p:grpSpPr>
        <p:sp>
          <p:nvSpPr>
            <p:cNvPr id="18" name="Freeform 18"/>
            <p:cNvSpPr/>
            <p:nvPr/>
          </p:nvSpPr>
          <p:spPr>
            <a:xfrm>
              <a:off x="0" y="0"/>
              <a:ext cx="5397500" cy="1524000"/>
            </a:xfrm>
            <a:custGeom>
              <a:avLst/>
              <a:gdLst/>
              <a:ahLst/>
              <a:cxnLst/>
              <a:rect l="l" t="t" r="r" b="b"/>
              <a:pathLst>
                <a:path w="5397500" h="1524000">
                  <a:moveTo>
                    <a:pt x="508000" y="0"/>
                  </a:moveTo>
                  <a:lnTo>
                    <a:pt x="4889500" y="0"/>
                  </a:lnTo>
                  <a:cubicBezTo>
                    <a:pt x="5170061" y="0"/>
                    <a:pt x="5397500" y="68232"/>
                    <a:pt x="5397500" y="152400"/>
                  </a:cubicBezTo>
                  <a:lnTo>
                    <a:pt x="5397500" y="1371600"/>
                  </a:lnTo>
                  <a:cubicBezTo>
                    <a:pt x="5397500" y="1455768"/>
                    <a:pt x="5170061" y="1524000"/>
                    <a:pt x="4889500" y="1524000"/>
                  </a:cubicBezTo>
                  <a:lnTo>
                    <a:pt x="508000" y="1524000"/>
                  </a:lnTo>
                  <a:cubicBezTo>
                    <a:pt x="227439" y="1524000"/>
                    <a:pt x="0" y="1455768"/>
                    <a:pt x="0" y="1371600"/>
                  </a:cubicBezTo>
                  <a:lnTo>
                    <a:pt x="0" y="152400"/>
                  </a:lnTo>
                  <a:cubicBezTo>
                    <a:pt x="0" y="68232"/>
                    <a:pt x="227439" y="0"/>
                    <a:pt x="508000" y="0"/>
                  </a:cubicBezTo>
                  <a:close/>
                </a:path>
              </a:pathLst>
            </a:custGeom>
            <a:solidFill>
              <a:srgbClr val="1A1A2E">
                <a:alpha val="80000"/>
              </a:srgbClr>
            </a:solidFill>
            <a:ln w="9525" cap="sq">
              <a:solidFill>
                <a:srgbClr val="6C63FF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19" name="TextBox 19"/>
          <p:cNvSpPr txBox="1"/>
          <p:nvPr/>
        </p:nvSpPr>
        <p:spPr>
          <a:xfrm>
            <a:off x="13668375" y="4686300"/>
            <a:ext cx="3667125" cy="3778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2800"/>
              </a:lnSpc>
              <a:spcBef>
                <a:spcPct val="0"/>
              </a:spcBef>
            </a:pPr>
            <a:r>
              <a:rPr lang="en-US" sz="2000" u="none" strike="noStrike">
                <a:solidFill>
                  <a:srgbClr val="6C63FF"/>
                </a:solidFill>
                <a:latin typeface="Telegraf"/>
                <a:ea typeface="Telegraf"/>
                <a:cs typeface="Telegraf"/>
                <a:sym typeface="Telegraf"/>
              </a:rPr>
              <a:t>⚡  MCP / TOOLS</a:t>
            </a:r>
          </a:p>
        </p:txBody>
      </p:sp>
      <p:sp>
        <p:nvSpPr>
          <p:cNvPr id="20" name="TextBox 20"/>
          <p:cNvSpPr txBox="1"/>
          <p:nvPr/>
        </p:nvSpPr>
        <p:spPr>
          <a:xfrm>
            <a:off x="13668375" y="5048250"/>
            <a:ext cx="3667125" cy="57721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2399"/>
              </a:lnSpc>
              <a:spcBef>
                <a:spcPct val="0"/>
              </a:spcBef>
            </a:pPr>
            <a:r>
              <a:rPr lang="en-US" sz="1599" u="none" strike="noStrike">
                <a:solidFill>
                  <a:srgbClr val="C8C8D8"/>
                </a:solidFill>
                <a:latin typeface="Inter"/>
                <a:ea typeface="Inter"/>
                <a:cs typeface="Inter"/>
                <a:sym typeface="Inter"/>
              </a:rPr>
              <a:t>Lambda action groups — calendar, company search, email</a:t>
            </a:r>
          </a:p>
        </p:txBody>
      </p:sp>
      <p:grpSp>
        <p:nvGrpSpPr>
          <p:cNvPr id="21" name="Group 21"/>
          <p:cNvGrpSpPr/>
          <p:nvPr/>
        </p:nvGrpSpPr>
        <p:grpSpPr>
          <a:xfrm>
            <a:off x="762000" y="6000750"/>
            <a:ext cx="4048125" cy="1143000"/>
            <a:chOff x="0" y="0"/>
            <a:chExt cx="5397500" cy="1524000"/>
          </a:xfrm>
        </p:grpSpPr>
        <p:sp>
          <p:nvSpPr>
            <p:cNvPr id="22" name="Freeform 22"/>
            <p:cNvSpPr/>
            <p:nvPr/>
          </p:nvSpPr>
          <p:spPr>
            <a:xfrm>
              <a:off x="0" y="0"/>
              <a:ext cx="5397500" cy="1524000"/>
            </a:xfrm>
            <a:custGeom>
              <a:avLst/>
              <a:gdLst/>
              <a:ahLst/>
              <a:cxnLst/>
              <a:rect l="l" t="t" r="r" b="b"/>
              <a:pathLst>
                <a:path w="5397500" h="1524000">
                  <a:moveTo>
                    <a:pt x="508000" y="0"/>
                  </a:moveTo>
                  <a:lnTo>
                    <a:pt x="4889500" y="0"/>
                  </a:lnTo>
                  <a:cubicBezTo>
                    <a:pt x="5170061" y="0"/>
                    <a:pt x="5397500" y="68232"/>
                    <a:pt x="5397500" y="152400"/>
                  </a:cubicBezTo>
                  <a:lnTo>
                    <a:pt x="5397500" y="1371600"/>
                  </a:lnTo>
                  <a:cubicBezTo>
                    <a:pt x="5397500" y="1455768"/>
                    <a:pt x="5170061" y="1524000"/>
                    <a:pt x="4889500" y="1524000"/>
                  </a:cubicBezTo>
                  <a:lnTo>
                    <a:pt x="508000" y="1524000"/>
                  </a:lnTo>
                  <a:cubicBezTo>
                    <a:pt x="227439" y="1524000"/>
                    <a:pt x="0" y="1455768"/>
                    <a:pt x="0" y="1371600"/>
                  </a:cubicBezTo>
                  <a:lnTo>
                    <a:pt x="0" y="152400"/>
                  </a:lnTo>
                  <a:cubicBezTo>
                    <a:pt x="0" y="68232"/>
                    <a:pt x="227439" y="0"/>
                    <a:pt x="508000" y="0"/>
                  </a:cubicBezTo>
                  <a:close/>
                </a:path>
              </a:pathLst>
            </a:custGeom>
            <a:solidFill>
              <a:srgbClr val="1A1A2E">
                <a:alpha val="80000"/>
              </a:srgbClr>
            </a:solidFill>
            <a:ln w="9525" cap="sq">
              <a:solidFill>
                <a:srgbClr val="6C63FF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23" name="TextBox 23"/>
          <p:cNvSpPr txBox="1"/>
          <p:nvPr/>
        </p:nvSpPr>
        <p:spPr>
          <a:xfrm>
            <a:off x="952500" y="6115050"/>
            <a:ext cx="3667125" cy="3778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2800"/>
              </a:lnSpc>
              <a:spcBef>
                <a:spcPct val="0"/>
              </a:spcBef>
            </a:pPr>
            <a:r>
              <a:rPr lang="en-US" sz="2000" u="none" strike="noStrike">
                <a:solidFill>
                  <a:srgbClr val="6C63FF"/>
                </a:solidFill>
                <a:latin typeface="Telegraf"/>
                <a:ea typeface="Telegraf"/>
                <a:cs typeface="Telegraf"/>
                <a:sym typeface="Telegraf"/>
              </a:rPr>
              <a:t>🐳  DOCKER</a:t>
            </a:r>
          </a:p>
        </p:txBody>
      </p:sp>
      <p:sp>
        <p:nvSpPr>
          <p:cNvPr id="24" name="TextBox 24"/>
          <p:cNvSpPr txBox="1"/>
          <p:nvPr/>
        </p:nvSpPr>
        <p:spPr>
          <a:xfrm>
            <a:off x="952500" y="6477000"/>
            <a:ext cx="3667125" cy="57721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2399"/>
              </a:lnSpc>
              <a:spcBef>
                <a:spcPct val="0"/>
              </a:spcBef>
            </a:pPr>
            <a:r>
              <a:rPr lang="en-US" sz="1599" u="none" strike="noStrike">
                <a:solidFill>
                  <a:srgbClr val="C8C8D8"/>
                </a:solidFill>
                <a:latin typeface="Inter"/>
                <a:ea typeface="Inter"/>
                <a:cs typeface="Inter"/>
                <a:sym typeface="Inter"/>
              </a:rPr>
              <a:t>Containerized deployment on EC2 via Docker Hub</a:t>
            </a:r>
          </a:p>
        </p:txBody>
      </p:sp>
      <p:grpSp>
        <p:nvGrpSpPr>
          <p:cNvPr id="25" name="Group 25"/>
          <p:cNvGrpSpPr/>
          <p:nvPr/>
        </p:nvGrpSpPr>
        <p:grpSpPr>
          <a:xfrm>
            <a:off x="5000625" y="6000750"/>
            <a:ext cx="4048125" cy="1143000"/>
            <a:chOff x="0" y="0"/>
            <a:chExt cx="5397500" cy="1524000"/>
          </a:xfrm>
        </p:grpSpPr>
        <p:sp>
          <p:nvSpPr>
            <p:cNvPr id="26" name="Freeform 26"/>
            <p:cNvSpPr/>
            <p:nvPr/>
          </p:nvSpPr>
          <p:spPr>
            <a:xfrm>
              <a:off x="0" y="0"/>
              <a:ext cx="5397500" cy="1524000"/>
            </a:xfrm>
            <a:custGeom>
              <a:avLst/>
              <a:gdLst/>
              <a:ahLst/>
              <a:cxnLst/>
              <a:rect l="l" t="t" r="r" b="b"/>
              <a:pathLst>
                <a:path w="5397500" h="1524000">
                  <a:moveTo>
                    <a:pt x="508000" y="0"/>
                  </a:moveTo>
                  <a:lnTo>
                    <a:pt x="4889500" y="0"/>
                  </a:lnTo>
                  <a:cubicBezTo>
                    <a:pt x="5170061" y="0"/>
                    <a:pt x="5397500" y="68232"/>
                    <a:pt x="5397500" y="152400"/>
                  </a:cubicBezTo>
                  <a:lnTo>
                    <a:pt x="5397500" y="1371600"/>
                  </a:lnTo>
                  <a:cubicBezTo>
                    <a:pt x="5397500" y="1455768"/>
                    <a:pt x="5170061" y="1524000"/>
                    <a:pt x="4889500" y="1524000"/>
                  </a:cubicBezTo>
                  <a:lnTo>
                    <a:pt x="508000" y="1524000"/>
                  </a:lnTo>
                  <a:cubicBezTo>
                    <a:pt x="227439" y="1524000"/>
                    <a:pt x="0" y="1455768"/>
                    <a:pt x="0" y="1371600"/>
                  </a:cubicBezTo>
                  <a:lnTo>
                    <a:pt x="0" y="152400"/>
                  </a:lnTo>
                  <a:cubicBezTo>
                    <a:pt x="0" y="68232"/>
                    <a:pt x="227439" y="0"/>
                    <a:pt x="508000" y="0"/>
                  </a:cubicBezTo>
                  <a:close/>
                </a:path>
              </a:pathLst>
            </a:custGeom>
            <a:solidFill>
              <a:srgbClr val="1A1A2E">
                <a:alpha val="80000"/>
              </a:srgbClr>
            </a:solidFill>
            <a:ln w="9525" cap="sq">
              <a:solidFill>
                <a:srgbClr val="6C63FF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27" name="TextBox 27"/>
          <p:cNvSpPr txBox="1"/>
          <p:nvPr/>
        </p:nvSpPr>
        <p:spPr>
          <a:xfrm>
            <a:off x="5191125" y="6115050"/>
            <a:ext cx="3667125" cy="3778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2800"/>
              </a:lnSpc>
              <a:spcBef>
                <a:spcPct val="0"/>
              </a:spcBef>
            </a:pPr>
            <a:r>
              <a:rPr lang="en-US" sz="2000" u="none" strike="noStrike">
                <a:solidFill>
                  <a:srgbClr val="6C63FF"/>
                </a:solidFill>
                <a:latin typeface="Telegraf"/>
                <a:ea typeface="Telegraf"/>
                <a:cs typeface="Telegraf"/>
                <a:sym typeface="Telegraf"/>
              </a:rPr>
              <a:t>🔀  GIT / GITHUB</a:t>
            </a:r>
          </a:p>
        </p:txBody>
      </p:sp>
      <p:sp>
        <p:nvSpPr>
          <p:cNvPr id="28" name="TextBox 28"/>
          <p:cNvSpPr txBox="1"/>
          <p:nvPr/>
        </p:nvSpPr>
        <p:spPr>
          <a:xfrm>
            <a:off x="5191125" y="6477000"/>
            <a:ext cx="3667125" cy="57721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2399"/>
              </a:lnSpc>
              <a:spcBef>
                <a:spcPct val="0"/>
              </a:spcBef>
            </a:pPr>
            <a:r>
              <a:rPr lang="en-US" sz="1599" u="none" strike="noStrike" dirty="0">
                <a:solidFill>
                  <a:srgbClr val="C8C8D8"/>
                </a:solidFill>
                <a:latin typeface="Inter"/>
                <a:ea typeface="Inter"/>
                <a:cs typeface="Inter"/>
                <a:sym typeface="Inter"/>
              </a:rPr>
              <a:t>Source control for app, prompts, KB content, config</a:t>
            </a:r>
          </a:p>
        </p:txBody>
      </p:sp>
      <p:grpSp>
        <p:nvGrpSpPr>
          <p:cNvPr id="29" name="Group 29"/>
          <p:cNvGrpSpPr/>
          <p:nvPr/>
        </p:nvGrpSpPr>
        <p:grpSpPr>
          <a:xfrm>
            <a:off x="9239250" y="6000750"/>
            <a:ext cx="4048125" cy="1143000"/>
            <a:chOff x="0" y="0"/>
            <a:chExt cx="5397500" cy="1524000"/>
          </a:xfrm>
        </p:grpSpPr>
        <p:sp>
          <p:nvSpPr>
            <p:cNvPr id="30" name="Freeform 30"/>
            <p:cNvSpPr/>
            <p:nvPr/>
          </p:nvSpPr>
          <p:spPr>
            <a:xfrm>
              <a:off x="0" y="0"/>
              <a:ext cx="5397500" cy="1524000"/>
            </a:xfrm>
            <a:custGeom>
              <a:avLst/>
              <a:gdLst/>
              <a:ahLst/>
              <a:cxnLst/>
              <a:rect l="l" t="t" r="r" b="b"/>
              <a:pathLst>
                <a:path w="5397500" h="1524000">
                  <a:moveTo>
                    <a:pt x="508000" y="0"/>
                  </a:moveTo>
                  <a:lnTo>
                    <a:pt x="4889500" y="0"/>
                  </a:lnTo>
                  <a:cubicBezTo>
                    <a:pt x="5170061" y="0"/>
                    <a:pt x="5397500" y="68232"/>
                    <a:pt x="5397500" y="152400"/>
                  </a:cubicBezTo>
                  <a:lnTo>
                    <a:pt x="5397500" y="1371600"/>
                  </a:lnTo>
                  <a:cubicBezTo>
                    <a:pt x="5397500" y="1455768"/>
                    <a:pt x="5170061" y="1524000"/>
                    <a:pt x="4889500" y="1524000"/>
                  </a:cubicBezTo>
                  <a:lnTo>
                    <a:pt x="508000" y="1524000"/>
                  </a:lnTo>
                  <a:cubicBezTo>
                    <a:pt x="227439" y="1524000"/>
                    <a:pt x="0" y="1455768"/>
                    <a:pt x="0" y="1371600"/>
                  </a:cubicBezTo>
                  <a:lnTo>
                    <a:pt x="0" y="152400"/>
                  </a:lnTo>
                  <a:cubicBezTo>
                    <a:pt x="0" y="68232"/>
                    <a:pt x="227439" y="0"/>
                    <a:pt x="508000" y="0"/>
                  </a:cubicBezTo>
                  <a:close/>
                </a:path>
              </a:pathLst>
            </a:custGeom>
            <a:solidFill>
              <a:srgbClr val="1A1A2E">
                <a:alpha val="80000"/>
              </a:srgbClr>
            </a:solidFill>
            <a:ln w="9525" cap="sq">
              <a:solidFill>
                <a:srgbClr val="6C63FF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31" name="TextBox 31"/>
          <p:cNvSpPr txBox="1"/>
          <p:nvPr/>
        </p:nvSpPr>
        <p:spPr>
          <a:xfrm>
            <a:off x="9429750" y="6115050"/>
            <a:ext cx="3667125" cy="3778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2800"/>
              </a:lnSpc>
              <a:spcBef>
                <a:spcPct val="0"/>
              </a:spcBef>
            </a:pPr>
            <a:r>
              <a:rPr lang="en-US" sz="2000" u="none" strike="noStrike">
                <a:solidFill>
                  <a:srgbClr val="6C63FF"/>
                </a:solidFill>
                <a:latin typeface="Telegraf"/>
                <a:ea typeface="Telegraf"/>
                <a:cs typeface="Telegraf"/>
                <a:sym typeface="Telegraf"/>
              </a:rPr>
              <a:t>🧠  AMAZON BEDROCK</a:t>
            </a:r>
          </a:p>
        </p:txBody>
      </p:sp>
      <p:sp>
        <p:nvSpPr>
          <p:cNvPr id="32" name="TextBox 32"/>
          <p:cNvSpPr txBox="1"/>
          <p:nvPr/>
        </p:nvSpPr>
        <p:spPr>
          <a:xfrm>
            <a:off x="9429750" y="6477000"/>
            <a:ext cx="3667125" cy="27911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2399"/>
              </a:lnSpc>
              <a:spcBef>
                <a:spcPct val="0"/>
              </a:spcBef>
            </a:pPr>
            <a:r>
              <a:rPr lang="en-US" sz="1599" u="none" strike="noStrike" dirty="0">
                <a:solidFill>
                  <a:srgbClr val="C8C8D8"/>
                </a:solidFill>
                <a:latin typeface="Inter"/>
                <a:ea typeface="Inter"/>
                <a:cs typeface="Inter"/>
                <a:sym typeface="Inter"/>
              </a:rPr>
              <a:t>Agent orchestration , KB</a:t>
            </a:r>
          </a:p>
        </p:txBody>
      </p:sp>
      <p:grpSp>
        <p:nvGrpSpPr>
          <p:cNvPr id="33" name="Group 33"/>
          <p:cNvGrpSpPr/>
          <p:nvPr/>
        </p:nvGrpSpPr>
        <p:grpSpPr>
          <a:xfrm>
            <a:off x="13477875" y="6000750"/>
            <a:ext cx="4048125" cy="1143000"/>
            <a:chOff x="0" y="0"/>
            <a:chExt cx="5397500" cy="1524000"/>
          </a:xfrm>
        </p:grpSpPr>
        <p:sp>
          <p:nvSpPr>
            <p:cNvPr id="34" name="Freeform 34"/>
            <p:cNvSpPr/>
            <p:nvPr/>
          </p:nvSpPr>
          <p:spPr>
            <a:xfrm>
              <a:off x="0" y="0"/>
              <a:ext cx="5397500" cy="1524000"/>
            </a:xfrm>
            <a:custGeom>
              <a:avLst/>
              <a:gdLst/>
              <a:ahLst/>
              <a:cxnLst/>
              <a:rect l="l" t="t" r="r" b="b"/>
              <a:pathLst>
                <a:path w="5397500" h="1524000">
                  <a:moveTo>
                    <a:pt x="508000" y="0"/>
                  </a:moveTo>
                  <a:lnTo>
                    <a:pt x="4889500" y="0"/>
                  </a:lnTo>
                  <a:cubicBezTo>
                    <a:pt x="5170061" y="0"/>
                    <a:pt x="5397500" y="68232"/>
                    <a:pt x="5397500" y="152400"/>
                  </a:cubicBezTo>
                  <a:lnTo>
                    <a:pt x="5397500" y="1371600"/>
                  </a:lnTo>
                  <a:cubicBezTo>
                    <a:pt x="5397500" y="1455768"/>
                    <a:pt x="5170061" y="1524000"/>
                    <a:pt x="4889500" y="1524000"/>
                  </a:cubicBezTo>
                  <a:lnTo>
                    <a:pt x="508000" y="1524000"/>
                  </a:lnTo>
                  <a:cubicBezTo>
                    <a:pt x="227439" y="1524000"/>
                    <a:pt x="0" y="1455768"/>
                    <a:pt x="0" y="1371600"/>
                  </a:cubicBezTo>
                  <a:lnTo>
                    <a:pt x="0" y="152400"/>
                  </a:lnTo>
                  <a:cubicBezTo>
                    <a:pt x="0" y="68232"/>
                    <a:pt x="227439" y="0"/>
                    <a:pt x="508000" y="0"/>
                  </a:cubicBezTo>
                  <a:close/>
                </a:path>
              </a:pathLst>
            </a:custGeom>
            <a:solidFill>
              <a:srgbClr val="1A1A2E">
                <a:alpha val="80000"/>
              </a:srgbClr>
            </a:solidFill>
            <a:ln w="9525" cap="sq">
              <a:solidFill>
                <a:srgbClr val="6C63FF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35" name="TextBox 35"/>
          <p:cNvSpPr txBox="1"/>
          <p:nvPr/>
        </p:nvSpPr>
        <p:spPr>
          <a:xfrm>
            <a:off x="13668375" y="6115050"/>
            <a:ext cx="3667125" cy="3778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2800"/>
              </a:lnSpc>
              <a:spcBef>
                <a:spcPct val="0"/>
              </a:spcBef>
            </a:pPr>
            <a:r>
              <a:rPr lang="en-US" sz="2000" u="none" strike="noStrike">
                <a:solidFill>
                  <a:srgbClr val="6C63FF"/>
                </a:solidFill>
                <a:latin typeface="Telegraf"/>
                <a:ea typeface="Telegraf"/>
                <a:cs typeface="Telegraf"/>
                <a:sym typeface="Telegraf"/>
              </a:rPr>
              <a:t>📋  JSON</a:t>
            </a:r>
          </a:p>
        </p:txBody>
      </p:sp>
      <p:sp>
        <p:nvSpPr>
          <p:cNvPr id="36" name="TextBox 36"/>
          <p:cNvSpPr txBox="1"/>
          <p:nvPr/>
        </p:nvSpPr>
        <p:spPr>
          <a:xfrm>
            <a:off x="13668375" y="6477000"/>
            <a:ext cx="3667125" cy="27911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2399"/>
              </a:lnSpc>
              <a:spcBef>
                <a:spcPct val="0"/>
              </a:spcBef>
            </a:pPr>
            <a:r>
              <a:rPr lang="en-US" sz="1599" u="none" strike="noStrike" dirty="0">
                <a:solidFill>
                  <a:srgbClr val="C8C8D8"/>
                </a:solidFill>
                <a:latin typeface="Inter"/>
                <a:ea typeface="Inter"/>
                <a:cs typeface="Inter"/>
                <a:sym typeface="Inter"/>
              </a:rPr>
              <a:t>Gap logs </a:t>
            </a:r>
            <a:endParaRPr lang="en-US" sz="1599" dirty="0">
              <a:solidFill>
                <a:srgbClr val="C8C8D8"/>
              </a:solidFill>
              <a:latin typeface="Inter"/>
              <a:ea typeface="Inter"/>
              <a:cs typeface="Inter"/>
              <a:sym typeface="Inter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3" name="TextBox 3"/>
          <p:cNvSpPr txBox="1"/>
          <p:nvPr/>
        </p:nvSpPr>
        <p:spPr>
          <a:xfrm>
            <a:off x="5334000" y="409575"/>
            <a:ext cx="7620000" cy="96071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7422"/>
              </a:lnSpc>
              <a:spcBef>
                <a:spcPct val="0"/>
              </a:spcBef>
            </a:pPr>
            <a:r>
              <a:rPr lang="en-US" sz="5301" u="none" strike="noStrike">
                <a:solidFill>
                  <a:srgbClr val="FFFFFF"/>
                </a:solidFill>
                <a:latin typeface="Telegraf"/>
                <a:ea typeface="Telegraf"/>
                <a:cs typeface="Telegraf"/>
                <a:sym typeface="Telegraf"/>
              </a:rPr>
              <a:t>System Architecture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6286500" y="1313035"/>
            <a:ext cx="5715000" cy="30621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2547"/>
              </a:lnSpc>
              <a:spcBef>
                <a:spcPct val="0"/>
              </a:spcBef>
            </a:pPr>
            <a:r>
              <a:rPr lang="en-US" sz="1819" u="none" strike="noStrike">
                <a:solidFill>
                  <a:srgbClr val="A0A0B8"/>
                </a:solidFill>
                <a:latin typeface="Inter"/>
                <a:ea typeface="Inter"/>
                <a:cs typeface="Inter"/>
                <a:sym typeface="Inter"/>
              </a:rPr>
              <a:t>End-to-end request flow</a:t>
            </a:r>
          </a:p>
        </p:txBody>
      </p:sp>
      <p:grpSp>
        <p:nvGrpSpPr>
          <p:cNvPr id="5" name="Group 5"/>
          <p:cNvGrpSpPr/>
          <p:nvPr/>
        </p:nvGrpSpPr>
        <p:grpSpPr>
          <a:xfrm>
            <a:off x="1333500" y="3333750"/>
            <a:ext cx="2667000" cy="1333500"/>
            <a:chOff x="0" y="0"/>
            <a:chExt cx="3556000" cy="1778000"/>
          </a:xfrm>
        </p:grpSpPr>
        <p:sp>
          <p:nvSpPr>
            <p:cNvPr id="6" name="Freeform 6"/>
            <p:cNvSpPr/>
            <p:nvPr/>
          </p:nvSpPr>
          <p:spPr>
            <a:xfrm>
              <a:off x="0" y="0"/>
              <a:ext cx="3556000" cy="1778000"/>
            </a:xfrm>
            <a:custGeom>
              <a:avLst/>
              <a:gdLst/>
              <a:ahLst/>
              <a:cxnLst/>
              <a:rect l="l" t="t" r="r" b="b"/>
              <a:pathLst>
                <a:path w="3556000" h="1778000">
                  <a:moveTo>
                    <a:pt x="177800" y="0"/>
                  </a:moveTo>
                  <a:lnTo>
                    <a:pt x="3378200" y="0"/>
                  </a:lnTo>
                  <a:cubicBezTo>
                    <a:pt x="3476396" y="0"/>
                    <a:pt x="3556000" y="79604"/>
                    <a:pt x="3556000" y="177800"/>
                  </a:cubicBezTo>
                  <a:lnTo>
                    <a:pt x="3556000" y="1600200"/>
                  </a:lnTo>
                  <a:cubicBezTo>
                    <a:pt x="3556000" y="1698396"/>
                    <a:pt x="3476396" y="1778000"/>
                    <a:pt x="3378200" y="1778000"/>
                  </a:cubicBezTo>
                  <a:lnTo>
                    <a:pt x="177800" y="1778000"/>
                  </a:lnTo>
                  <a:cubicBezTo>
                    <a:pt x="79604" y="1778000"/>
                    <a:pt x="0" y="1698396"/>
                    <a:pt x="0" y="1600200"/>
                  </a:cubicBezTo>
                  <a:lnTo>
                    <a:pt x="0" y="177800"/>
                  </a:lnTo>
                  <a:cubicBezTo>
                    <a:pt x="0" y="79604"/>
                    <a:pt x="79604" y="0"/>
                    <a:pt x="177800" y="0"/>
                  </a:cubicBezTo>
                  <a:close/>
                </a:path>
              </a:pathLst>
            </a:custGeom>
            <a:solidFill>
              <a:srgbClr val="1A1A2E">
                <a:alpha val="80000"/>
              </a:srgbClr>
            </a:solidFill>
            <a:ln w="9525" cap="sq">
              <a:solidFill>
                <a:srgbClr val="6C63FF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7" name="TextBox 7"/>
          <p:cNvSpPr txBox="1"/>
          <p:nvPr/>
        </p:nvSpPr>
        <p:spPr>
          <a:xfrm>
            <a:off x="1428750" y="3524250"/>
            <a:ext cx="2476500" cy="28321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2239"/>
              </a:lnSpc>
              <a:spcBef>
                <a:spcPct val="0"/>
              </a:spcBef>
            </a:pPr>
            <a:r>
              <a:rPr lang="en-US" sz="1599" u="none" strike="noStrike">
                <a:solidFill>
                  <a:srgbClr val="6C63FF"/>
                </a:solidFill>
                <a:latin typeface="Telegraf"/>
                <a:ea typeface="Telegraf"/>
                <a:cs typeface="Telegraf"/>
                <a:sym typeface="Telegraf"/>
              </a:rPr>
              <a:t>🖥️  BROWSER</a:t>
            </a:r>
          </a:p>
        </p:txBody>
      </p:sp>
      <p:sp>
        <p:nvSpPr>
          <p:cNvPr id="8" name="TextBox 8"/>
          <p:cNvSpPr txBox="1"/>
          <p:nvPr/>
        </p:nvSpPr>
        <p:spPr>
          <a:xfrm>
            <a:off x="1428750" y="3924300"/>
            <a:ext cx="2476500" cy="45275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1819"/>
              </a:lnSpc>
              <a:spcBef>
                <a:spcPct val="0"/>
              </a:spcBef>
            </a:pPr>
            <a:r>
              <a:rPr lang="en-US" sz="1299" u="none" strike="noStrike">
                <a:solidFill>
                  <a:srgbClr val="C8C8D8"/>
                </a:solidFill>
                <a:latin typeface="Inter"/>
                <a:ea typeface="Inter"/>
                <a:cs typeface="Inter"/>
                <a:sym typeface="Inter"/>
              </a:rPr>
              <a:t>Sales rep types</a:t>
            </a:r>
          </a:p>
          <a:p>
            <a:pPr marL="0" lvl="0" indent="0" algn="ctr">
              <a:lnSpc>
                <a:spcPts val="1819"/>
              </a:lnSpc>
              <a:spcBef>
                <a:spcPct val="0"/>
              </a:spcBef>
            </a:pPr>
            <a:r>
              <a:rPr lang="en-US" sz="1299" u="none" strike="noStrike">
                <a:solidFill>
                  <a:srgbClr val="C8C8D8"/>
                </a:solidFill>
                <a:latin typeface="Inter"/>
                <a:ea typeface="Inter"/>
                <a:cs typeface="Inter"/>
                <a:sym typeface="Inter"/>
              </a:rPr>
              <a:t>question + context</a:t>
            </a:r>
          </a:p>
        </p:txBody>
      </p:sp>
      <p:grpSp>
        <p:nvGrpSpPr>
          <p:cNvPr id="9" name="Group 9"/>
          <p:cNvGrpSpPr/>
          <p:nvPr/>
        </p:nvGrpSpPr>
        <p:grpSpPr>
          <a:xfrm>
            <a:off x="4572000" y="3333750"/>
            <a:ext cx="2667000" cy="1333500"/>
            <a:chOff x="0" y="0"/>
            <a:chExt cx="3556000" cy="1778000"/>
          </a:xfrm>
        </p:grpSpPr>
        <p:sp>
          <p:nvSpPr>
            <p:cNvPr id="10" name="Freeform 10"/>
            <p:cNvSpPr/>
            <p:nvPr/>
          </p:nvSpPr>
          <p:spPr>
            <a:xfrm>
              <a:off x="0" y="0"/>
              <a:ext cx="3556000" cy="1778000"/>
            </a:xfrm>
            <a:custGeom>
              <a:avLst/>
              <a:gdLst/>
              <a:ahLst/>
              <a:cxnLst/>
              <a:rect l="l" t="t" r="r" b="b"/>
              <a:pathLst>
                <a:path w="3556000" h="1778000">
                  <a:moveTo>
                    <a:pt x="177800" y="0"/>
                  </a:moveTo>
                  <a:lnTo>
                    <a:pt x="3378200" y="0"/>
                  </a:lnTo>
                  <a:cubicBezTo>
                    <a:pt x="3476396" y="0"/>
                    <a:pt x="3556000" y="79604"/>
                    <a:pt x="3556000" y="177800"/>
                  </a:cubicBezTo>
                  <a:lnTo>
                    <a:pt x="3556000" y="1600200"/>
                  </a:lnTo>
                  <a:cubicBezTo>
                    <a:pt x="3556000" y="1698396"/>
                    <a:pt x="3476396" y="1778000"/>
                    <a:pt x="3378200" y="1778000"/>
                  </a:cubicBezTo>
                  <a:lnTo>
                    <a:pt x="177800" y="1778000"/>
                  </a:lnTo>
                  <a:cubicBezTo>
                    <a:pt x="79604" y="1778000"/>
                    <a:pt x="0" y="1698396"/>
                    <a:pt x="0" y="1600200"/>
                  </a:cubicBezTo>
                  <a:lnTo>
                    <a:pt x="0" y="177800"/>
                  </a:lnTo>
                  <a:cubicBezTo>
                    <a:pt x="0" y="79604"/>
                    <a:pt x="79604" y="0"/>
                    <a:pt x="177800" y="0"/>
                  </a:cubicBezTo>
                  <a:close/>
                </a:path>
              </a:pathLst>
            </a:custGeom>
            <a:solidFill>
              <a:srgbClr val="1A1A2E">
                <a:alpha val="80000"/>
              </a:srgbClr>
            </a:solidFill>
            <a:ln w="9525" cap="sq">
              <a:solidFill>
                <a:srgbClr val="6C63FF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11" name="TextBox 11"/>
          <p:cNvSpPr txBox="1"/>
          <p:nvPr/>
        </p:nvSpPr>
        <p:spPr>
          <a:xfrm>
            <a:off x="4667250" y="3524250"/>
            <a:ext cx="2476500" cy="28321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2239"/>
              </a:lnSpc>
              <a:spcBef>
                <a:spcPct val="0"/>
              </a:spcBef>
            </a:pPr>
            <a:r>
              <a:rPr lang="en-US" sz="1599" u="none" strike="noStrike">
                <a:solidFill>
                  <a:srgbClr val="6C63FF"/>
                </a:solidFill>
                <a:latin typeface="Telegraf"/>
                <a:ea typeface="Telegraf"/>
                <a:cs typeface="Telegraf"/>
                <a:sym typeface="Telegraf"/>
              </a:rPr>
              <a:t>⚙️  FLASK</a:t>
            </a:r>
          </a:p>
        </p:txBody>
      </p:sp>
      <p:sp>
        <p:nvSpPr>
          <p:cNvPr id="12" name="TextBox 12"/>
          <p:cNvSpPr txBox="1"/>
          <p:nvPr/>
        </p:nvSpPr>
        <p:spPr>
          <a:xfrm>
            <a:off x="4667250" y="3924300"/>
            <a:ext cx="2476500" cy="44313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1819"/>
              </a:lnSpc>
              <a:spcBef>
                <a:spcPct val="0"/>
              </a:spcBef>
            </a:pPr>
            <a:r>
              <a:rPr lang="en-US" sz="1299" u="none" strike="noStrike" dirty="0">
                <a:solidFill>
                  <a:srgbClr val="C8C8D8"/>
                </a:solidFill>
                <a:latin typeface="Inter"/>
                <a:ea typeface="Inter"/>
                <a:cs typeface="Inter"/>
                <a:sym typeface="Inter"/>
              </a:rPr>
              <a:t>Routing tags</a:t>
            </a:r>
          </a:p>
          <a:p>
            <a:pPr marL="0" lvl="0" indent="0" algn="ctr">
              <a:lnSpc>
                <a:spcPts val="1819"/>
              </a:lnSpc>
              <a:spcBef>
                <a:spcPct val="0"/>
              </a:spcBef>
            </a:pPr>
            <a:r>
              <a:rPr lang="en-US" sz="1299" u="none" strike="noStrike" dirty="0" err="1">
                <a:solidFill>
                  <a:srgbClr val="C8C8D8"/>
                </a:solidFill>
                <a:latin typeface="Inter"/>
                <a:ea typeface="Inter"/>
                <a:cs typeface="Inter"/>
                <a:sym typeface="Inter"/>
              </a:rPr>
              <a:t>InvokeAgent</a:t>
            </a:r>
            <a:r>
              <a:rPr lang="en-US" sz="1299" u="none" strike="noStrike" dirty="0">
                <a:solidFill>
                  <a:srgbClr val="C8C8D8"/>
                </a:solidFill>
                <a:latin typeface="Inter"/>
                <a:ea typeface="Inter"/>
                <a:cs typeface="Inter"/>
                <a:sym typeface="Inter"/>
              </a:rPr>
              <a:t> </a:t>
            </a:r>
          </a:p>
        </p:txBody>
      </p:sp>
      <p:grpSp>
        <p:nvGrpSpPr>
          <p:cNvPr id="13" name="Group 13"/>
          <p:cNvGrpSpPr/>
          <p:nvPr/>
        </p:nvGrpSpPr>
        <p:grpSpPr>
          <a:xfrm>
            <a:off x="7810500" y="3333750"/>
            <a:ext cx="2667000" cy="1333500"/>
            <a:chOff x="0" y="0"/>
            <a:chExt cx="3556000" cy="1778000"/>
          </a:xfrm>
        </p:grpSpPr>
        <p:sp>
          <p:nvSpPr>
            <p:cNvPr id="14" name="Freeform 14"/>
            <p:cNvSpPr/>
            <p:nvPr/>
          </p:nvSpPr>
          <p:spPr>
            <a:xfrm>
              <a:off x="0" y="0"/>
              <a:ext cx="3556000" cy="1778000"/>
            </a:xfrm>
            <a:custGeom>
              <a:avLst/>
              <a:gdLst/>
              <a:ahLst/>
              <a:cxnLst/>
              <a:rect l="l" t="t" r="r" b="b"/>
              <a:pathLst>
                <a:path w="3556000" h="1778000">
                  <a:moveTo>
                    <a:pt x="177800" y="0"/>
                  </a:moveTo>
                  <a:lnTo>
                    <a:pt x="3378200" y="0"/>
                  </a:lnTo>
                  <a:cubicBezTo>
                    <a:pt x="3476396" y="0"/>
                    <a:pt x="3556000" y="79604"/>
                    <a:pt x="3556000" y="177800"/>
                  </a:cubicBezTo>
                  <a:lnTo>
                    <a:pt x="3556000" y="1600200"/>
                  </a:lnTo>
                  <a:cubicBezTo>
                    <a:pt x="3556000" y="1698396"/>
                    <a:pt x="3476396" y="1778000"/>
                    <a:pt x="3378200" y="1778000"/>
                  </a:cubicBezTo>
                  <a:lnTo>
                    <a:pt x="177800" y="1778000"/>
                  </a:lnTo>
                  <a:cubicBezTo>
                    <a:pt x="79604" y="1778000"/>
                    <a:pt x="0" y="1698396"/>
                    <a:pt x="0" y="1600200"/>
                  </a:cubicBezTo>
                  <a:lnTo>
                    <a:pt x="0" y="177800"/>
                  </a:lnTo>
                  <a:cubicBezTo>
                    <a:pt x="0" y="79604"/>
                    <a:pt x="79604" y="0"/>
                    <a:pt x="177800" y="0"/>
                  </a:cubicBezTo>
                  <a:close/>
                </a:path>
              </a:pathLst>
            </a:custGeom>
            <a:solidFill>
              <a:srgbClr val="1A1A2E">
                <a:alpha val="80000"/>
              </a:srgbClr>
            </a:solidFill>
            <a:ln w="9525" cap="sq">
              <a:solidFill>
                <a:srgbClr val="6C63FF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15" name="TextBox 15"/>
          <p:cNvSpPr txBox="1"/>
          <p:nvPr/>
        </p:nvSpPr>
        <p:spPr>
          <a:xfrm>
            <a:off x="7905750" y="3524250"/>
            <a:ext cx="2476500" cy="28321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2239"/>
              </a:lnSpc>
              <a:spcBef>
                <a:spcPct val="0"/>
              </a:spcBef>
            </a:pPr>
            <a:r>
              <a:rPr lang="en-US" sz="1599" u="none" strike="noStrike">
                <a:solidFill>
                  <a:srgbClr val="6C63FF"/>
                </a:solidFill>
                <a:latin typeface="Telegraf"/>
                <a:ea typeface="Telegraf"/>
                <a:cs typeface="Telegraf"/>
                <a:sym typeface="Telegraf"/>
              </a:rPr>
              <a:t>🧠  BEDROCK AGENT</a:t>
            </a:r>
          </a:p>
        </p:txBody>
      </p:sp>
      <p:sp>
        <p:nvSpPr>
          <p:cNvPr id="16" name="TextBox 16"/>
          <p:cNvSpPr txBox="1"/>
          <p:nvPr/>
        </p:nvSpPr>
        <p:spPr>
          <a:xfrm>
            <a:off x="7905750" y="3924300"/>
            <a:ext cx="2476500" cy="45275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1819"/>
              </a:lnSpc>
              <a:spcBef>
                <a:spcPct val="0"/>
              </a:spcBef>
            </a:pPr>
            <a:r>
              <a:rPr lang="en-US" sz="1299" u="none" strike="noStrike">
                <a:solidFill>
                  <a:srgbClr val="C8C8D8"/>
                </a:solidFill>
                <a:latin typeface="Inter"/>
                <a:ea typeface="Inter"/>
                <a:cs typeface="Inter"/>
                <a:sym typeface="Inter"/>
              </a:rPr>
              <a:t>Orchestration LLM</a:t>
            </a:r>
          </a:p>
          <a:p>
            <a:pPr marL="0" lvl="0" indent="0" algn="ctr">
              <a:lnSpc>
                <a:spcPts val="1819"/>
              </a:lnSpc>
              <a:spcBef>
                <a:spcPct val="0"/>
              </a:spcBef>
            </a:pPr>
            <a:r>
              <a:rPr lang="en-US" sz="1299" u="none" strike="noStrike">
                <a:solidFill>
                  <a:srgbClr val="C8C8D8"/>
                </a:solidFill>
                <a:latin typeface="Inter"/>
                <a:ea typeface="Inter"/>
                <a:cs typeface="Inter"/>
                <a:sym typeface="Inter"/>
              </a:rPr>
              <a:t>KB or Tool decision</a:t>
            </a:r>
          </a:p>
        </p:txBody>
      </p:sp>
      <p:grpSp>
        <p:nvGrpSpPr>
          <p:cNvPr id="17" name="Group 17"/>
          <p:cNvGrpSpPr/>
          <p:nvPr/>
        </p:nvGrpSpPr>
        <p:grpSpPr>
          <a:xfrm>
            <a:off x="11126053" y="3333750"/>
            <a:ext cx="2667000" cy="1333500"/>
            <a:chOff x="0" y="0"/>
            <a:chExt cx="3556000" cy="1778000"/>
          </a:xfrm>
        </p:grpSpPr>
        <p:sp>
          <p:nvSpPr>
            <p:cNvPr id="18" name="Freeform 18"/>
            <p:cNvSpPr/>
            <p:nvPr/>
          </p:nvSpPr>
          <p:spPr>
            <a:xfrm>
              <a:off x="0" y="0"/>
              <a:ext cx="3556000" cy="1778000"/>
            </a:xfrm>
            <a:custGeom>
              <a:avLst/>
              <a:gdLst/>
              <a:ahLst/>
              <a:cxnLst/>
              <a:rect l="l" t="t" r="r" b="b"/>
              <a:pathLst>
                <a:path w="3556000" h="1778000">
                  <a:moveTo>
                    <a:pt x="177800" y="0"/>
                  </a:moveTo>
                  <a:lnTo>
                    <a:pt x="3378200" y="0"/>
                  </a:lnTo>
                  <a:cubicBezTo>
                    <a:pt x="3476396" y="0"/>
                    <a:pt x="3556000" y="79604"/>
                    <a:pt x="3556000" y="177800"/>
                  </a:cubicBezTo>
                  <a:lnTo>
                    <a:pt x="3556000" y="1600200"/>
                  </a:lnTo>
                  <a:cubicBezTo>
                    <a:pt x="3556000" y="1698396"/>
                    <a:pt x="3476396" y="1778000"/>
                    <a:pt x="3378200" y="1778000"/>
                  </a:cubicBezTo>
                  <a:lnTo>
                    <a:pt x="177800" y="1778000"/>
                  </a:lnTo>
                  <a:cubicBezTo>
                    <a:pt x="79604" y="1778000"/>
                    <a:pt x="0" y="1698396"/>
                    <a:pt x="0" y="1600200"/>
                  </a:cubicBezTo>
                  <a:lnTo>
                    <a:pt x="0" y="177800"/>
                  </a:lnTo>
                  <a:cubicBezTo>
                    <a:pt x="0" y="79604"/>
                    <a:pt x="79604" y="0"/>
                    <a:pt x="177800" y="0"/>
                  </a:cubicBezTo>
                  <a:close/>
                </a:path>
              </a:pathLst>
            </a:custGeom>
            <a:solidFill>
              <a:srgbClr val="1A1A2E">
                <a:alpha val="80000"/>
              </a:srgbClr>
            </a:solidFill>
            <a:ln w="9525" cap="sq">
              <a:solidFill>
                <a:srgbClr val="6C63FF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19" name="TextBox 19"/>
          <p:cNvSpPr txBox="1"/>
          <p:nvPr/>
        </p:nvSpPr>
        <p:spPr>
          <a:xfrm>
            <a:off x="11144250" y="3524250"/>
            <a:ext cx="2476500" cy="28321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2239"/>
              </a:lnSpc>
              <a:spcBef>
                <a:spcPct val="0"/>
              </a:spcBef>
            </a:pPr>
            <a:r>
              <a:rPr lang="en-US" sz="1599" u="none" strike="noStrike">
                <a:solidFill>
                  <a:srgbClr val="6C63FF"/>
                </a:solidFill>
                <a:latin typeface="Telegraf"/>
                <a:ea typeface="Telegraf"/>
                <a:cs typeface="Telegraf"/>
                <a:sym typeface="Telegraf"/>
              </a:rPr>
              <a:t>📚  KB / TOOLS</a:t>
            </a:r>
          </a:p>
        </p:txBody>
      </p:sp>
      <p:sp>
        <p:nvSpPr>
          <p:cNvPr id="20" name="TextBox 20"/>
          <p:cNvSpPr txBox="1"/>
          <p:nvPr/>
        </p:nvSpPr>
        <p:spPr>
          <a:xfrm>
            <a:off x="11144250" y="3924300"/>
            <a:ext cx="2476500" cy="21230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1819"/>
              </a:lnSpc>
              <a:spcBef>
                <a:spcPct val="0"/>
              </a:spcBef>
            </a:pPr>
            <a:r>
              <a:rPr lang="en-US" sz="1299" u="none" strike="noStrike" dirty="0">
                <a:solidFill>
                  <a:srgbClr val="C8C8D8"/>
                </a:solidFill>
                <a:latin typeface="Inter"/>
                <a:ea typeface="Inter"/>
                <a:cs typeface="Inter"/>
                <a:sym typeface="Inter"/>
              </a:rPr>
              <a:t>S3 docs</a:t>
            </a:r>
          </a:p>
        </p:txBody>
      </p:sp>
      <p:grpSp>
        <p:nvGrpSpPr>
          <p:cNvPr id="21" name="Group 21"/>
          <p:cNvGrpSpPr/>
          <p:nvPr/>
        </p:nvGrpSpPr>
        <p:grpSpPr>
          <a:xfrm>
            <a:off x="14287500" y="3333750"/>
            <a:ext cx="2667000" cy="1333500"/>
            <a:chOff x="0" y="0"/>
            <a:chExt cx="3556000" cy="1778000"/>
          </a:xfrm>
        </p:grpSpPr>
        <p:sp>
          <p:nvSpPr>
            <p:cNvPr id="22" name="Freeform 22"/>
            <p:cNvSpPr/>
            <p:nvPr/>
          </p:nvSpPr>
          <p:spPr>
            <a:xfrm>
              <a:off x="0" y="0"/>
              <a:ext cx="3556000" cy="1778000"/>
            </a:xfrm>
            <a:custGeom>
              <a:avLst/>
              <a:gdLst/>
              <a:ahLst/>
              <a:cxnLst/>
              <a:rect l="l" t="t" r="r" b="b"/>
              <a:pathLst>
                <a:path w="3556000" h="1778000">
                  <a:moveTo>
                    <a:pt x="177800" y="0"/>
                  </a:moveTo>
                  <a:lnTo>
                    <a:pt x="3378200" y="0"/>
                  </a:lnTo>
                  <a:cubicBezTo>
                    <a:pt x="3476396" y="0"/>
                    <a:pt x="3556000" y="79604"/>
                    <a:pt x="3556000" y="177800"/>
                  </a:cubicBezTo>
                  <a:lnTo>
                    <a:pt x="3556000" y="1600200"/>
                  </a:lnTo>
                  <a:cubicBezTo>
                    <a:pt x="3556000" y="1698396"/>
                    <a:pt x="3476396" y="1778000"/>
                    <a:pt x="3378200" y="1778000"/>
                  </a:cubicBezTo>
                  <a:lnTo>
                    <a:pt x="177800" y="1778000"/>
                  </a:lnTo>
                  <a:cubicBezTo>
                    <a:pt x="79604" y="1778000"/>
                    <a:pt x="0" y="1698396"/>
                    <a:pt x="0" y="1600200"/>
                  </a:cubicBezTo>
                  <a:lnTo>
                    <a:pt x="0" y="177800"/>
                  </a:lnTo>
                  <a:cubicBezTo>
                    <a:pt x="0" y="79604"/>
                    <a:pt x="79604" y="0"/>
                    <a:pt x="177800" y="0"/>
                  </a:cubicBezTo>
                  <a:close/>
                </a:path>
              </a:pathLst>
            </a:custGeom>
            <a:solidFill>
              <a:srgbClr val="1A1A2E">
                <a:alpha val="80000"/>
              </a:srgbClr>
            </a:solidFill>
            <a:ln w="9525" cap="sq">
              <a:solidFill>
                <a:srgbClr val="6C63FF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23" name="TextBox 23"/>
          <p:cNvSpPr txBox="1"/>
          <p:nvPr/>
        </p:nvSpPr>
        <p:spPr>
          <a:xfrm>
            <a:off x="14382750" y="3524250"/>
            <a:ext cx="2476500" cy="28321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2239"/>
              </a:lnSpc>
              <a:spcBef>
                <a:spcPct val="0"/>
              </a:spcBef>
            </a:pPr>
            <a:r>
              <a:rPr lang="en-US" sz="1599" u="none" strike="noStrike">
                <a:solidFill>
                  <a:srgbClr val="6C63FF"/>
                </a:solidFill>
                <a:latin typeface="Telegraf"/>
                <a:ea typeface="Telegraf"/>
                <a:cs typeface="Telegraf"/>
                <a:sym typeface="Telegraf"/>
              </a:rPr>
              <a:t>💬  RESPONSE</a:t>
            </a:r>
          </a:p>
        </p:txBody>
      </p:sp>
      <p:sp>
        <p:nvSpPr>
          <p:cNvPr id="24" name="TextBox 24"/>
          <p:cNvSpPr txBox="1"/>
          <p:nvPr/>
        </p:nvSpPr>
        <p:spPr>
          <a:xfrm>
            <a:off x="14382750" y="3924300"/>
            <a:ext cx="2476500" cy="45275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1819"/>
              </a:lnSpc>
              <a:spcBef>
                <a:spcPct val="0"/>
              </a:spcBef>
            </a:pPr>
            <a:r>
              <a:rPr lang="en-US" sz="1299" u="none" strike="noStrike" dirty="0">
                <a:solidFill>
                  <a:srgbClr val="C8C8D8"/>
                </a:solidFill>
                <a:latin typeface="Inter"/>
                <a:ea typeface="Inter"/>
                <a:cs typeface="Inter"/>
                <a:sym typeface="Inter"/>
              </a:rPr>
              <a:t>Streamed bullets</a:t>
            </a:r>
          </a:p>
          <a:p>
            <a:pPr marL="0" lvl="0" indent="0" algn="ctr">
              <a:lnSpc>
                <a:spcPts val="1819"/>
              </a:lnSpc>
              <a:spcBef>
                <a:spcPct val="0"/>
              </a:spcBef>
            </a:pPr>
            <a:r>
              <a:rPr lang="en-US" sz="1299" u="none" strike="noStrike" dirty="0">
                <a:solidFill>
                  <a:srgbClr val="C8C8D8"/>
                </a:solidFill>
                <a:latin typeface="Inter"/>
                <a:ea typeface="Inter"/>
                <a:cs typeface="Inter"/>
                <a:sym typeface="Inter"/>
              </a:rPr>
              <a:t>Prep or Live format</a:t>
            </a:r>
          </a:p>
        </p:txBody>
      </p:sp>
      <p:sp>
        <p:nvSpPr>
          <p:cNvPr id="25" name="AutoShape 25"/>
          <p:cNvSpPr/>
          <p:nvPr/>
        </p:nvSpPr>
        <p:spPr>
          <a:xfrm>
            <a:off x="4048125" y="4000500"/>
            <a:ext cx="476250" cy="0"/>
          </a:xfrm>
          <a:prstGeom prst="line">
            <a:avLst/>
          </a:prstGeom>
          <a:ln w="19050" cap="rnd">
            <a:solidFill>
              <a:srgbClr val="6C63FF"/>
            </a:solidFill>
            <a:prstDash val="solid"/>
            <a:headEnd type="none" w="sm" len="sm"/>
            <a:tailEnd type="triangle" w="lg" len="med"/>
          </a:ln>
        </p:spPr>
        <p:txBody>
          <a:bodyPr/>
          <a:lstStyle/>
          <a:p>
            <a:endParaRPr lang="en-US"/>
          </a:p>
        </p:txBody>
      </p:sp>
      <p:sp>
        <p:nvSpPr>
          <p:cNvPr id="26" name="AutoShape 26"/>
          <p:cNvSpPr/>
          <p:nvPr/>
        </p:nvSpPr>
        <p:spPr>
          <a:xfrm>
            <a:off x="7286625" y="4000500"/>
            <a:ext cx="476250" cy="0"/>
          </a:xfrm>
          <a:prstGeom prst="line">
            <a:avLst/>
          </a:prstGeom>
          <a:ln w="19050" cap="rnd">
            <a:solidFill>
              <a:srgbClr val="6C63FF"/>
            </a:solidFill>
            <a:prstDash val="solid"/>
            <a:headEnd type="none" w="sm" len="sm"/>
            <a:tailEnd type="triangle" w="lg" len="med"/>
          </a:ln>
        </p:spPr>
        <p:txBody>
          <a:bodyPr/>
          <a:lstStyle/>
          <a:p>
            <a:endParaRPr lang="en-US"/>
          </a:p>
        </p:txBody>
      </p:sp>
      <p:sp>
        <p:nvSpPr>
          <p:cNvPr id="27" name="AutoShape 27"/>
          <p:cNvSpPr/>
          <p:nvPr/>
        </p:nvSpPr>
        <p:spPr>
          <a:xfrm>
            <a:off x="10525125" y="4000500"/>
            <a:ext cx="476250" cy="0"/>
          </a:xfrm>
          <a:prstGeom prst="line">
            <a:avLst/>
          </a:prstGeom>
          <a:ln w="19050" cap="rnd">
            <a:solidFill>
              <a:srgbClr val="6C63FF"/>
            </a:solidFill>
            <a:prstDash val="solid"/>
            <a:headEnd type="none" w="sm" len="sm"/>
            <a:tailEnd type="triangle" w="lg" len="med"/>
          </a:ln>
        </p:spPr>
        <p:txBody>
          <a:bodyPr/>
          <a:lstStyle/>
          <a:p>
            <a:endParaRPr lang="en-US"/>
          </a:p>
        </p:txBody>
      </p:sp>
      <p:sp>
        <p:nvSpPr>
          <p:cNvPr id="28" name="AutoShape 28"/>
          <p:cNvSpPr/>
          <p:nvPr/>
        </p:nvSpPr>
        <p:spPr>
          <a:xfrm>
            <a:off x="13763625" y="4000500"/>
            <a:ext cx="476250" cy="0"/>
          </a:xfrm>
          <a:prstGeom prst="line">
            <a:avLst/>
          </a:prstGeom>
          <a:ln w="19050" cap="rnd">
            <a:solidFill>
              <a:srgbClr val="6C63FF"/>
            </a:solidFill>
            <a:prstDash val="solid"/>
            <a:headEnd type="none" w="sm" len="sm"/>
            <a:tailEnd type="triangle" w="lg" len="med"/>
          </a:ln>
        </p:spPr>
        <p:txBody>
          <a:bodyPr/>
          <a:lstStyle/>
          <a:p>
            <a:endParaRPr lang="en-US"/>
          </a:p>
        </p:txBody>
      </p:sp>
      <p:grpSp>
        <p:nvGrpSpPr>
          <p:cNvPr id="29" name="Group 29"/>
          <p:cNvGrpSpPr/>
          <p:nvPr/>
        </p:nvGrpSpPr>
        <p:grpSpPr>
          <a:xfrm>
            <a:off x="952500" y="5524500"/>
            <a:ext cx="5334000" cy="1905000"/>
            <a:chOff x="0" y="0"/>
            <a:chExt cx="7112000" cy="2540000"/>
          </a:xfrm>
        </p:grpSpPr>
        <p:sp>
          <p:nvSpPr>
            <p:cNvPr id="30" name="Freeform 30"/>
            <p:cNvSpPr/>
            <p:nvPr/>
          </p:nvSpPr>
          <p:spPr>
            <a:xfrm>
              <a:off x="0" y="0"/>
              <a:ext cx="7112000" cy="2540000"/>
            </a:xfrm>
            <a:custGeom>
              <a:avLst/>
              <a:gdLst/>
              <a:ahLst/>
              <a:cxnLst/>
              <a:rect l="l" t="t" r="r" b="b"/>
              <a:pathLst>
                <a:path w="7112000" h="2540000">
                  <a:moveTo>
                    <a:pt x="254000" y="0"/>
                  </a:moveTo>
                  <a:lnTo>
                    <a:pt x="6858000" y="0"/>
                  </a:lnTo>
                  <a:cubicBezTo>
                    <a:pt x="6998281" y="0"/>
                    <a:pt x="7112000" y="113720"/>
                    <a:pt x="7112000" y="254000"/>
                  </a:cubicBezTo>
                  <a:lnTo>
                    <a:pt x="7112000" y="2286000"/>
                  </a:lnTo>
                  <a:cubicBezTo>
                    <a:pt x="7112000" y="2426280"/>
                    <a:pt x="6998281" y="2540000"/>
                    <a:pt x="6858000" y="2540000"/>
                  </a:cubicBezTo>
                  <a:lnTo>
                    <a:pt x="254000" y="2540000"/>
                  </a:lnTo>
                  <a:cubicBezTo>
                    <a:pt x="113720" y="2540000"/>
                    <a:pt x="0" y="2426280"/>
                    <a:pt x="0" y="2286000"/>
                  </a:cubicBezTo>
                  <a:lnTo>
                    <a:pt x="0" y="254000"/>
                  </a:lnTo>
                  <a:cubicBezTo>
                    <a:pt x="0" y="113720"/>
                    <a:pt x="113720" y="0"/>
                    <a:pt x="254000" y="0"/>
                  </a:cubicBezTo>
                  <a:close/>
                </a:path>
              </a:pathLst>
            </a:custGeom>
            <a:solidFill>
              <a:srgbClr val="1A1A2E">
                <a:alpha val="80000"/>
              </a:srgbClr>
            </a:solidFill>
            <a:ln w="9525" cap="sq">
              <a:solidFill>
                <a:srgbClr val="6C63FF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31" name="TextBox 31"/>
          <p:cNvSpPr txBox="1"/>
          <p:nvPr/>
        </p:nvSpPr>
        <p:spPr>
          <a:xfrm>
            <a:off x="1143000" y="5629275"/>
            <a:ext cx="4953000" cy="33528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2520"/>
              </a:lnSpc>
              <a:spcBef>
                <a:spcPct val="0"/>
              </a:spcBef>
            </a:pPr>
            <a:r>
              <a:rPr lang="en-US" sz="1800" u="none" strike="noStrike">
                <a:solidFill>
                  <a:srgbClr val="6C63FF"/>
                </a:solidFill>
                <a:latin typeface="Telegraf"/>
                <a:ea typeface="Telegraf"/>
                <a:cs typeface="Telegraf"/>
                <a:sym typeface="Telegraf"/>
              </a:rPr>
              <a:t>📡  HOW IT WORKS</a:t>
            </a:r>
          </a:p>
        </p:txBody>
      </p:sp>
      <p:sp>
        <p:nvSpPr>
          <p:cNvPr id="32" name="TextBox 32"/>
          <p:cNvSpPr txBox="1"/>
          <p:nvPr/>
        </p:nvSpPr>
        <p:spPr>
          <a:xfrm>
            <a:off x="1143000" y="6019800"/>
            <a:ext cx="4953000" cy="100399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1960"/>
              </a:lnSpc>
              <a:spcBef>
                <a:spcPct val="0"/>
              </a:spcBef>
            </a:pPr>
            <a:r>
              <a:rPr lang="en-US" sz="1400" u="none" strike="noStrike" dirty="0">
                <a:solidFill>
                  <a:srgbClr val="C8C8D8"/>
                </a:solidFill>
                <a:latin typeface="Inter"/>
                <a:ea typeface="Inter"/>
                <a:cs typeface="Inter"/>
                <a:sym typeface="Inter"/>
              </a:rPr>
              <a:t>•  Rep sends question + mode + product + prospect</a:t>
            </a:r>
          </a:p>
          <a:p>
            <a:pPr marL="0" lvl="0" indent="0" algn="l">
              <a:lnSpc>
                <a:spcPts val="1960"/>
              </a:lnSpc>
              <a:spcBef>
                <a:spcPct val="0"/>
              </a:spcBef>
            </a:pPr>
            <a:r>
              <a:rPr lang="en-US" sz="1400" u="none" strike="noStrike" dirty="0">
                <a:solidFill>
                  <a:srgbClr val="C8C8D8"/>
                </a:solidFill>
                <a:latin typeface="Inter"/>
                <a:ea typeface="Inter"/>
                <a:cs typeface="Inter"/>
                <a:sym typeface="Inter"/>
              </a:rPr>
              <a:t>•  Flask embeds routing tags in </a:t>
            </a:r>
            <a:r>
              <a:rPr lang="en-US" sz="1400" u="none" strike="noStrike" dirty="0" err="1">
                <a:solidFill>
                  <a:srgbClr val="C8C8D8"/>
                </a:solidFill>
                <a:latin typeface="Inter"/>
                <a:ea typeface="Inter"/>
                <a:cs typeface="Inter"/>
                <a:sym typeface="Inter"/>
              </a:rPr>
              <a:t>inputText</a:t>
            </a:r>
            <a:endParaRPr lang="en-US" sz="1400" u="none" strike="noStrike" dirty="0">
              <a:solidFill>
                <a:srgbClr val="C8C8D8"/>
              </a:solidFill>
              <a:latin typeface="Inter"/>
              <a:ea typeface="Inter"/>
              <a:cs typeface="Inter"/>
              <a:sym typeface="Inter"/>
            </a:endParaRPr>
          </a:p>
          <a:p>
            <a:pPr marL="0" lvl="0" indent="0" algn="l">
              <a:lnSpc>
                <a:spcPts val="1960"/>
              </a:lnSpc>
              <a:spcBef>
                <a:spcPct val="0"/>
              </a:spcBef>
            </a:pPr>
            <a:r>
              <a:rPr lang="en-US" sz="1400" u="none" strike="noStrike" dirty="0">
                <a:solidFill>
                  <a:srgbClr val="C8C8D8"/>
                </a:solidFill>
                <a:latin typeface="Inter"/>
                <a:ea typeface="Inter"/>
                <a:cs typeface="Inter"/>
                <a:sym typeface="Inter"/>
              </a:rPr>
              <a:t>•  Bedrock Agent decides: KB lookup or tool call</a:t>
            </a:r>
          </a:p>
          <a:p>
            <a:pPr marL="0" lvl="0" indent="0" algn="l">
              <a:lnSpc>
                <a:spcPts val="1960"/>
              </a:lnSpc>
              <a:spcBef>
                <a:spcPct val="0"/>
              </a:spcBef>
            </a:pPr>
            <a:r>
              <a:rPr lang="en-US" sz="1400" u="none" strike="noStrike" dirty="0">
                <a:solidFill>
                  <a:srgbClr val="C8C8D8"/>
                </a:solidFill>
                <a:latin typeface="Inter"/>
                <a:ea typeface="Inter"/>
                <a:cs typeface="Inter"/>
                <a:sym typeface="Inter"/>
              </a:rPr>
              <a:t>•  Response generated</a:t>
            </a:r>
          </a:p>
        </p:txBody>
      </p:sp>
      <p:grpSp>
        <p:nvGrpSpPr>
          <p:cNvPr id="33" name="Group 33"/>
          <p:cNvGrpSpPr/>
          <p:nvPr/>
        </p:nvGrpSpPr>
        <p:grpSpPr>
          <a:xfrm>
            <a:off x="6477000" y="5524500"/>
            <a:ext cx="5334000" cy="1905000"/>
            <a:chOff x="0" y="0"/>
            <a:chExt cx="7112000" cy="2540000"/>
          </a:xfrm>
        </p:grpSpPr>
        <p:sp>
          <p:nvSpPr>
            <p:cNvPr id="34" name="Freeform 34"/>
            <p:cNvSpPr/>
            <p:nvPr/>
          </p:nvSpPr>
          <p:spPr>
            <a:xfrm>
              <a:off x="0" y="0"/>
              <a:ext cx="7112000" cy="2540000"/>
            </a:xfrm>
            <a:custGeom>
              <a:avLst/>
              <a:gdLst/>
              <a:ahLst/>
              <a:cxnLst/>
              <a:rect l="l" t="t" r="r" b="b"/>
              <a:pathLst>
                <a:path w="7112000" h="2540000">
                  <a:moveTo>
                    <a:pt x="254000" y="0"/>
                  </a:moveTo>
                  <a:lnTo>
                    <a:pt x="6858000" y="0"/>
                  </a:lnTo>
                  <a:cubicBezTo>
                    <a:pt x="6998281" y="0"/>
                    <a:pt x="7112000" y="113720"/>
                    <a:pt x="7112000" y="254000"/>
                  </a:cubicBezTo>
                  <a:lnTo>
                    <a:pt x="7112000" y="2286000"/>
                  </a:lnTo>
                  <a:cubicBezTo>
                    <a:pt x="7112000" y="2426280"/>
                    <a:pt x="6998281" y="2540000"/>
                    <a:pt x="6858000" y="2540000"/>
                  </a:cubicBezTo>
                  <a:lnTo>
                    <a:pt x="254000" y="2540000"/>
                  </a:lnTo>
                  <a:cubicBezTo>
                    <a:pt x="113720" y="2540000"/>
                    <a:pt x="0" y="2426280"/>
                    <a:pt x="0" y="2286000"/>
                  </a:cubicBezTo>
                  <a:lnTo>
                    <a:pt x="0" y="254000"/>
                  </a:lnTo>
                  <a:cubicBezTo>
                    <a:pt x="0" y="113720"/>
                    <a:pt x="113720" y="0"/>
                    <a:pt x="254000" y="0"/>
                  </a:cubicBezTo>
                  <a:close/>
                </a:path>
              </a:pathLst>
            </a:custGeom>
            <a:solidFill>
              <a:srgbClr val="1A1A2E">
                <a:alpha val="80000"/>
              </a:srgbClr>
            </a:solidFill>
            <a:ln w="9525" cap="sq">
              <a:solidFill>
                <a:srgbClr val="6C63FF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35" name="TextBox 35"/>
          <p:cNvSpPr txBox="1"/>
          <p:nvPr/>
        </p:nvSpPr>
        <p:spPr>
          <a:xfrm>
            <a:off x="6667500" y="5629275"/>
            <a:ext cx="4953000" cy="33528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2520"/>
              </a:lnSpc>
              <a:spcBef>
                <a:spcPct val="0"/>
              </a:spcBef>
            </a:pPr>
            <a:r>
              <a:rPr lang="en-US" sz="1800" u="none" strike="noStrike">
                <a:solidFill>
                  <a:srgbClr val="6C63FF"/>
                </a:solidFill>
                <a:latin typeface="Telegraf"/>
                <a:ea typeface="Telegraf"/>
                <a:cs typeface="Telegraf"/>
                <a:sym typeface="Telegraf"/>
              </a:rPr>
              <a:t>📚  WHERE RAG IS USED</a:t>
            </a:r>
          </a:p>
        </p:txBody>
      </p:sp>
      <p:sp>
        <p:nvSpPr>
          <p:cNvPr id="36" name="TextBox 36"/>
          <p:cNvSpPr txBox="1"/>
          <p:nvPr/>
        </p:nvSpPr>
        <p:spPr>
          <a:xfrm>
            <a:off x="6667500" y="6019800"/>
            <a:ext cx="4953000" cy="98361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1960"/>
              </a:lnSpc>
              <a:spcBef>
                <a:spcPct val="0"/>
              </a:spcBef>
            </a:pPr>
            <a:r>
              <a:rPr lang="en-US" sz="1400" u="none" strike="noStrike" dirty="0">
                <a:solidFill>
                  <a:srgbClr val="C8C8D8"/>
                </a:solidFill>
                <a:latin typeface="Inter"/>
                <a:ea typeface="Inter"/>
                <a:cs typeface="Inter"/>
                <a:sym typeface="Inter"/>
              </a:rPr>
              <a:t>•  Person prep → Customer Notes from KB only</a:t>
            </a:r>
          </a:p>
          <a:p>
            <a:pPr marL="0" lvl="0" indent="0" algn="l">
              <a:lnSpc>
                <a:spcPts val="1960"/>
              </a:lnSpc>
              <a:spcBef>
                <a:spcPct val="0"/>
              </a:spcBef>
            </a:pPr>
            <a:r>
              <a:rPr lang="en-US" sz="1400" u="none" strike="noStrike" dirty="0">
                <a:solidFill>
                  <a:srgbClr val="C8C8D8"/>
                </a:solidFill>
                <a:latin typeface="Inter"/>
                <a:ea typeface="Inter"/>
                <a:cs typeface="Inter"/>
                <a:sym typeface="Inter"/>
              </a:rPr>
              <a:t>•  Product questions → docs filtered by metadata</a:t>
            </a:r>
          </a:p>
          <a:p>
            <a:pPr marL="0" lvl="0" indent="0" algn="l">
              <a:lnSpc>
                <a:spcPts val="1960"/>
              </a:lnSpc>
              <a:spcBef>
                <a:spcPct val="0"/>
              </a:spcBef>
            </a:pPr>
            <a:r>
              <a:rPr lang="en-US" sz="1400" u="none" strike="noStrike" dirty="0">
                <a:solidFill>
                  <a:srgbClr val="C8C8D8"/>
                </a:solidFill>
                <a:latin typeface="Inter"/>
                <a:ea typeface="Inter"/>
                <a:cs typeface="Inter"/>
                <a:sym typeface="Inter"/>
              </a:rPr>
              <a:t>•  No web search for person data — KB is truth</a:t>
            </a:r>
          </a:p>
          <a:p>
            <a:pPr marL="0" lvl="0" indent="0" algn="l">
              <a:lnSpc>
                <a:spcPts val="1960"/>
              </a:lnSpc>
              <a:spcBef>
                <a:spcPct val="0"/>
              </a:spcBef>
            </a:pPr>
            <a:r>
              <a:rPr lang="en-US" sz="1400" u="none" strike="noStrike" dirty="0">
                <a:solidFill>
                  <a:srgbClr val="C8C8D8"/>
                </a:solidFill>
                <a:latin typeface="Inter"/>
                <a:ea typeface="Inter"/>
                <a:cs typeface="Inter"/>
                <a:sym typeface="Inter"/>
              </a:rPr>
              <a:t>•  Metadata JSON sidecars scope retrieval</a:t>
            </a:r>
          </a:p>
        </p:txBody>
      </p:sp>
      <p:grpSp>
        <p:nvGrpSpPr>
          <p:cNvPr id="37" name="Group 37"/>
          <p:cNvGrpSpPr/>
          <p:nvPr/>
        </p:nvGrpSpPr>
        <p:grpSpPr>
          <a:xfrm>
            <a:off x="12001500" y="5524500"/>
            <a:ext cx="5334000" cy="1905000"/>
            <a:chOff x="0" y="0"/>
            <a:chExt cx="7112000" cy="2540000"/>
          </a:xfrm>
        </p:grpSpPr>
        <p:sp>
          <p:nvSpPr>
            <p:cNvPr id="38" name="Freeform 38"/>
            <p:cNvSpPr/>
            <p:nvPr/>
          </p:nvSpPr>
          <p:spPr>
            <a:xfrm>
              <a:off x="0" y="0"/>
              <a:ext cx="7112000" cy="2540000"/>
            </a:xfrm>
            <a:custGeom>
              <a:avLst/>
              <a:gdLst/>
              <a:ahLst/>
              <a:cxnLst/>
              <a:rect l="l" t="t" r="r" b="b"/>
              <a:pathLst>
                <a:path w="7112000" h="2540000">
                  <a:moveTo>
                    <a:pt x="254000" y="0"/>
                  </a:moveTo>
                  <a:lnTo>
                    <a:pt x="6858000" y="0"/>
                  </a:lnTo>
                  <a:cubicBezTo>
                    <a:pt x="6998281" y="0"/>
                    <a:pt x="7112000" y="113720"/>
                    <a:pt x="7112000" y="254000"/>
                  </a:cubicBezTo>
                  <a:lnTo>
                    <a:pt x="7112000" y="2286000"/>
                  </a:lnTo>
                  <a:cubicBezTo>
                    <a:pt x="7112000" y="2426280"/>
                    <a:pt x="6998281" y="2540000"/>
                    <a:pt x="6858000" y="2540000"/>
                  </a:cubicBezTo>
                  <a:lnTo>
                    <a:pt x="254000" y="2540000"/>
                  </a:lnTo>
                  <a:cubicBezTo>
                    <a:pt x="113720" y="2540000"/>
                    <a:pt x="0" y="2426280"/>
                    <a:pt x="0" y="2286000"/>
                  </a:cubicBezTo>
                  <a:lnTo>
                    <a:pt x="0" y="254000"/>
                  </a:lnTo>
                  <a:cubicBezTo>
                    <a:pt x="0" y="113720"/>
                    <a:pt x="113720" y="0"/>
                    <a:pt x="254000" y="0"/>
                  </a:cubicBezTo>
                  <a:close/>
                </a:path>
              </a:pathLst>
            </a:custGeom>
            <a:solidFill>
              <a:srgbClr val="1A1A2E">
                <a:alpha val="80000"/>
              </a:srgbClr>
            </a:solidFill>
            <a:ln w="9525" cap="sq">
              <a:solidFill>
                <a:srgbClr val="6C63FF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39" name="TextBox 39"/>
          <p:cNvSpPr txBox="1"/>
          <p:nvPr/>
        </p:nvSpPr>
        <p:spPr>
          <a:xfrm>
            <a:off x="12192000" y="5629275"/>
            <a:ext cx="4953000" cy="33528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2520"/>
              </a:lnSpc>
              <a:spcBef>
                <a:spcPct val="0"/>
              </a:spcBef>
            </a:pPr>
            <a:r>
              <a:rPr lang="en-US" sz="1800" u="none" strike="noStrike">
                <a:solidFill>
                  <a:srgbClr val="6C63FF"/>
                </a:solidFill>
                <a:latin typeface="Telegraf"/>
                <a:ea typeface="Telegraf"/>
                <a:cs typeface="Telegraf"/>
                <a:sym typeface="Telegraf"/>
              </a:rPr>
              <a:t>🔧  TOOLS (LAMBDA)</a:t>
            </a:r>
          </a:p>
        </p:txBody>
      </p:sp>
      <p:sp>
        <p:nvSpPr>
          <p:cNvPr id="40" name="TextBox 40"/>
          <p:cNvSpPr txBox="1"/>
          <p:nvPr/>
        </p:nvSpPr>
        <p:spPr>
          <a:xfrm>
            <a:off x="12192000" y="6019800"/>
            <a:ext cx="4953000" cy="98361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1960"/>
              </a:lnSpc>
              <a:spcBef>
                <a:spcPct val="0"/>
              </a:spcBef>
            </a:pPr>
            <a:r>
              <a:rPr lang="en-US" sz="1400" u="none" strike="noStrike">
                <a:solidFill>
                  <a:srgbClr val="C8C8D8"/>
                </a:solidFill>
                <a:latin typeface="Inter"/>
                <a:ea typeface="Inter"/>
                <a:cs typeface="Inter"/>
                <a:sym typeface="Inter"/>
              </a:rPr>
              <a:t>•  get_todays_calls → Google Calendar</a:t>
            </a:r>
          </a:p>
          <a:p>
            <a:pPr marL="0" lvl="0" indent="0" algn="l">
              <a:lnSpc>
                <a:spcPts val="1960"/>
              </a:lnSpc>
              <a:spcBef>
                <a:spcPct val="0"/>
              </a:spcBef>
            </a:pPr>
            <a:r>
              <a:rPr lang="en-US" sz="1400" u="none" strike="noStrike">
                <a:solidFill>
                  <a:srgbClr val="C8C8D8"/>
                </a:solidFill>
                <a:latin typeface="Inter"/>
                <a:ea typeface="Inter"/>
                <a:cs typeface="Inter"/>
                <a:sym typeface="Inter"/>
              </a:rPr>
              <a:t>•  get_company_context → Tavily Search API</a:t>
            </a:r>
          </a:p>
          <a:p>
            <a:pPr marL="0" lvl="0" indent="0" algn="l">
              <a:lnSpc>
                <a:spcPts val="1960"/>
              </a:lnSpc>
              <a:spcBef>
                <a:spcPct val="0"/>
              </a:spcBef>
            </a:pPr>
            <a:r>
              <a:rPr lang="en-US" sz="1400" u="none" strike="noStrike">
                <a:solidFill>
                  <a:srgbClr val="C8C8D8"/>
                </a:solidFill>
                <a:latin typeface="Inter"/>
                <a:ea typeface="Inter"/>
                <a:cs typeface="Inter"/>
                <a:sym typeface="Inter"/>
              </a:rPr>
              <a:t>•  send_call_update_email → Resend API</a:t>
            </a:r>
          </a:p>
          <a:p>
            <a:pPr marL="0" lvl="0" indent="0" algn="l">
              <a:lnSpc>
                <a:spcPts val="1960"/>
              </a:lnSpc>
              <a:spcBef>
                <a:spcPct val="0"/>
              </a:spcBef>
            </a:pPr>
            <a:r>
              <a:rPr lang="en-US" sz="1400" u="none" strike="noStrike">
                <a:solidFill>
                  <a:srgbClr val="C8C8D8"/>
                </a:solidFill>
                <a:latin typeface="Inter"/>
                <a:ea typeface="Inter"/>
                <a:cs typeface="Inter"/>
                <a:sym typeface="Inter"/>
              </a:rPr>
              <a:t>•  Agent decides when to invoke each tool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3" name="TextBox 3"/>
          <p:cNvSpPr txBox="1"/>
          <p:nvPr/>
        </p:nvSpPr>
        <p:spPr>
          <a:xfrm>
            <a:off x="5334000" y="409575"/>
            <a:ext cx="7620000" cy="96071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7422"/>
              </a:lnSpc>
              <a:spcBef>
                <a:spcPct val="0"/>
              </a:spcBef>
            </a:pPr>
            <a:r>
              <a:rPr lang="en-US" sz="5301" u="none" strike="noStrike">
                <a:solidFill>
                  <a:srgbClr val="FFFFFF"/>
                </a:solidFill>
                <a:latin typeface="Telegraf"/>
                <a:ea typeface="Telegraf"/>
                <a:cs typeface="Telegraf"/>
                <a:sym typeface="Telegraf"/>
              </a:rPr>
              <a:t>Live Demo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6286500" y="1332192"/>
            <a:ext cx="5715000" cy="37274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3079"/>
              </a:lnSpc>
              <a:spcBef>
                <a:spcPct val="0"/>
              </a:spcBef>
            </a:pPr>
            <a:r>
              <a:rPr lang="en-US" sz="2199" u="none" strike="noStrike">
                <a:solidFill>
                  <a:srgbClr val="6C63FF"/>
                </a:solidFill>
                <a:latin typeface="Inter"/>
                <a:ea typeface="Inter"/>
                <a:cs typeface="Inter"/>
                <a:sym typeface="Inter"/>
              </a:rPr>
              <a:t>http://50.17.43.22</a:t>
            </a:r>
          </a:p>
        </p:txBody>
      </p:sp>
      <p:grpSp>
        <p:nvGrpSpPr>
          <p:cNvPr id="5" name="Group 5"/>
          <p:cNvGrpSpPr/>
          <p:nvPr/>
        </p:nvGrpSpPr>
        <p:grpSpPr>
          <a:xfrm>
            <a:off x="1143000" y="1905000"/>
            <a:ext cx="7620000" cy="1143000"/>
            <a:chOff x="0" y="0"/>
            <a:chExt cx="10160000" cy="1524000"/>
          </a:xfrm>
        </p:grpSpPr>
        <p:sp>
          <p:nvSpPr>
            <p:cNvPr id="6" name="Freeform 6"/>
            <p:cNvSpPr/>
            <p:nvPr/>
          </p:nvSpPr>
          <p:spPr>
            <a:xfrm>
              <a:off x="0" y="0"/>
              <a:ext cx="10160000" cy="1524000"/>
            </a:xfrm>
            <a:custGeom>
              <a:avLst/>
              <a:gdLst/>
              <a:ahLst/>
              <a:cxnLst/>
              <a:rect l="l" t="t" r="r" b="b"/>
              <a:pathLst>
                <a:path w="10160000" h="1524000">
                  <a:moveTo>
                    <a:pt x="152400" y="0"/>
                  </a:moveTo>
                  <a:lnTo>
                    <a:pt x="10007600" y="0"/>
                  </a:lnTo>
                  <a:cubicBezTo>
                    <a:pt x="10091769" y="0"/>
                    <a:pt x="10160000" y="68232"/>
                    <a:pt x="10160000" y="152400"/>
                  </a:cubicBezTo>
                  <a:lnTo>
                    <a:pt x="10160000" y="1371600"/>
                  </a:lnTo>
                  <a:cubicBezTo>
                    <a:pt x="10160000" y="1455768"/>
                    <a:pt x="10091769" y="1524000"/>
                    <a:pt x="10007600" y="1524000"/>
                  </a:cubicBezTo>
                  <a:lnTo>
                    <a:pt x="152400" y="1524000"/>
                  </a:lnTo>
                  <a:cubicBezTo>
                    <a:pt x="68232" y="1524000"/>
                    <a:pt x="0" y="1455768"/>
                    <a:pt x="0" y="1371600"/>
                  </a:cubicBezTo>
                  <a:lnTo>
                    <a:pt x="0" y="152400"/>
                  </a:lnTo>
                  <a:cubicBezTo>
                    <a:pt x="0" y="68232"/>
                    <a:pt x="68232" y="0"/>
                    <a:pt x="152400" y="0"/>
                  </a:cubicBezTo>
                  <a:close/>
                </a:path>
              </a:pathLst>
            </a:custGeom>
            <a:solidFill>
              <a:srgbClr val="1A1A2E">
                <a:alpha val="80000"/>
              </a:srgbClr>
            </a:solidFill>
            <a:ln w="9525" cap="sq">
              <a:solidFill>
                <a:srgbClr val="6C63FF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7" name="TextBox 7"/>
          <p:cNvSpPr txBox="1"/>
          <p:nvPr/>
        </p:nvSpPr>
        <p:spPr>
          <a:xfrm>
            <a:off x="1333500" y="2000250"/>
            <a:ext cx="7239000" cy="28321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2239"/>
              </a:lnSpc>
              <a:spcBef>
                <a:spcPct val="0"/>
              </a:spcBef>
            </a:pPr>
            <a:r>
              <a:rPr lang="en-US" sz="1599" u="none" strike="noStrike">
                <a:solidFill>
                  <a:srgbClr val="6C63FF"/>
                </a:solidFill>
                <a:latin typeface="Telegraf"/>
                <a:ea typeface="Telegraf"/>
                <a:cs typeface="Telegraf"/>
                <a:sym typeface="Telegraf"/>
              </a:rPr>
              <a:t>1.  OPEN APP</a:t>
            </a:r>
          </a:p>
        </p:txBody>
      </p:sp>
      <p:sp>
        <p:nvSpPr>
          <p:cNvPr id="8" name="TextBox 8"/>
          <p:cNvSpPr txBox="1"/>
          <p:nvPr/>
        </p:nvSpPr>
        <p:spPr>
          <a:xfrm>
            <a:off x="1333500" y="2333625"/>
            <a:ext cx="7239000" cy="45275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1819"/>
              </a:lnSpc>
              <a:spcBef>
                <a:spcPct val="0"/>
              </a:spcBef>
            </a:pPr>
            <a:r>
              <a:rPr lang="en-US" sz="1299" u="none" strike="noStrike" dirty="0">
                <a:solidFill>
                  <a:srgbClr val="C8C8D8"/>
                </a:solidFill>
                <a:latin typeface="Inter"/>
                <a:ea typeface="Inter"/>
                <a:cs typeface="Inter"/>
                <a:sym typeface="Inter"/>
              </a:rPr>
              <a:t>Navigate to public URL, show landing page</a:t>
            </a:r>
          </a:p>
          <a:p>
            <a:pPr marL="0" lvl="0" indent="0" algn="l">
              <a:lnSpc>
                <a:spcPts val="1819"/>
              </a:lnSpc>
              <a:spcBef>
                <a:spcPct val="0"/>
              </a:spcBef>
            </a:pPr>
            <a:r>
              <a:rPr lang="en-US" sz="1299" u="none" strike="noStrike" dirty="0">
                <a:solidFill>
                  <a:srgbClr val="C8C8D8"/>
                </a:solidFill>
                <a:latin typeface="Inter"/>
                <a:ea typeface="Inter"/>
                <a:cs typeface="Inter"/>
                <a:sym typeface="Inter"/>
              </a:rPr>
              <a:t>Prep/Live toggle + product pill + prospect sidebar</a:t>
            </a:r>
          </a:p>
        </p:txBody>
      </p:sp>
      <p:grpSp>
        <p:nvGrpSpPr>
          <p:cNvPr id="9" name="Group 9"/>
          <p:cNvGrpSpPr/>
          <p:nvPr/>
        </p:nvGrpSpPr>
        <p:grpSpPr>
          <a:xfrm>
            <a:off x="1143000" y="3143250"/>
            <a:ext cx="7620000" cy="1143000"/>
            <a:chOff x="0" y="0"/>
            <a:chExt cx="10160000" cy="1524000"/>
          </a:xfrm>
        </p:grpSpPr>
        <p:sp>
          <p:nvSpPr>
            <p:cNvPr id="10" name="Freeform 10"/>
            <p:cNvSpPr/>
            <p:nvPr/>
          </p:nvSpPr>
          <p:spPr>
            <a:xfrm>
              <a:off x="0" y="0"/>
              <a:ext cx="10160000" cy="1524000"/>
            </a:xfrm>
            <a:custGeom>
              <a:avLst/>
              <a:gdLst/>
              <a:ahLst/>
              <a:cxnLst/>
              <a:rect l="l" t="t" r="r" b="b"/>
              <a:pathLst>
                <a:path w="10160000" h="1524000">
                  <a:moveTo>
                    <a:pt x="152400" y="0"/>
                  </a:moveTo>
                  <a:lnTo>
                    <a:pt x="10007600" y="0"/>
                  </a:lnTo>
                  <a:cubicBezTo>
                    <a:pt x="10091769" y="0"/>
                    <a:pt x="10160000" y="68232"/>
                    <a:pt x="10160000" y="152400"/>
                  </a:cubicBezTo>
                  <a:lnTo>
                    <a:pt x="10160000" y="1371600"/>
                  </a:lnTo>
                  <a:cubicBezTo>
                    <a:pt x="10160000" y="1455768"/>
                    <a:pt x="10091769" y="1524000"/>
                    <a:pt x="10007600" y="1524000"/>
                  </a:cubicBezTo>
                  <a:lnTo>
                    <a:pt x="152400" y="1524000"/>
                  </a:lnTo>
                  <a:cubicBezTo>
                    <a:pt x="68232" y="1524000"/>
                    <a:pt x="0" y="1455768"/>
                    <a:pt x="0" y="1371600"/>
                  </a:cubicBezTo>
                  <a:lnTo>
                    <a:pt x="0" y="152400"/>
                  </a:lnTo>
                  <a:cubicBezTo>
                    <a:pt x="0" y="68232"/>
                    <a:pt x="68232" y="0"/>
                    <a:pt x="152400" y="0"/>
                  </a:cubicBezTo>
                  <a:close/>
                </a:path>
              </a:pathLst>
            </a:custGeom>
            <a:solidFill>
              <a:srgbClr val="1A1A2E">
                <a:alpha val="80000"/>
              </a:srgbClr>
            </a:solidFill>
            <a:ln w="9525" cap="sq">
              <a:solidFill>
                <a:srgbClr val="6C63FF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11" name="TextBox 11"/>
          <p:cNvSpPr txBox="1"/>
          <p:nvPr/>
        </p:nvSpPr>
        <p:spPr>
          <a:xfrm>
            <a:off x="1333500" y="3238500"/>
            <a:ext cx="7239000" cy="28321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2239"/>
              </a:lnSpc>
              <a:spcBef>
                <a:spcPct val="0"/>
              </a:spcBef>
            </a:pPr>
            <a:r>
              <a:rPr lang="en-US" sz="1599" u="none" strike="noStrike">
                <a:solidFill>
                  <a:srgbClr val="6C63FF"/>
                </a:solidFill>
                <a:latin typeface="Telegraf"/>
                <a:ea typeface="Telegraf"/>
                <a:cs typeface="Telegraf"/>
                <a:sym typeface="Telegraf"/>
              </a:rPr>
              <a:t>2.  CREATE PROSPECT CHAT</a:t>
            </a:r>
          </a:p>
        </p:txBody>
      </p:sp>
      <p:sp>
        <p:nvSpPr>
          <p:cNvPr id="12" name="TextBox 12"/>
          <p:cNvSpPr txBox="1"/>
          <p:nvPr/>
        </p:nvSpPr>
        <p:spPr>
          <a:xfrm>
            <a:off x="1333500" y="3571875"/>
            <a:ext cx="7239000" cy="45275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1819"/>
              </a:lnSpc>
              <a:spcBef>
                <a:spcPct val="0"/>
              </a:spcBef>
            </a:pPr>
            <a:r>
              <a:rPr lang="en-US" sz="1299" u="none" strike="noStrike" dirty="0">
                <a:solidFill>
                  <a:srgbClr val="C8C8D8"/>
                </a:solidFill>
                <a:latin typeface="Inter"/>
                <a:ea typeface="Inter"/>
                <a:cs typeface="Inter"/>
                <a:sym typeface="Inter"/>
              </a:rPr>
              <a:t>New chat → Alex Rivera, </a:t>
            </a:r>
            <a:r>
              <a:rPr lang="en-US" sz="1299" u="none" strike="noStrike" dirty="0" err="1">
                <a:solidFill>
                  <a:srgbClr val="C8C8D8"/>
                </a:solidFill>
                <a:latin typeface="Inter"/>
                <a:ea typeface="Inter"/>
                <a:cs typeface="Inter"/>
                <a:sym typeface="Inter"/>
              </a:rPr>
              <a:t>CloudScale</a:t>
            </a:r>
            <a:endParaRPr lang="en-US" sz="1299" u="none" strike="noStrike" dirty="0">
              <a:solidFill>
                <a:srgbClr val="C8C8D8"/>
              </a:solidFill>
              <a:latin typeface="Inter"/>
              <a:ea typeface="Inter"/>
              <a:cs typeface="Inter"/>
              <a:sym typeface="Inter"/>
            </a:endParaRPr>
          </a:p>
          <a:p>
            <a:pPr marL="0" lvl="0" indent="0" algn="l">
              <a:lnSpc>
                <a:spcPts val="1819"/>
              </a:lnSpc>
              <a:spcBef>
                <a:spcPct val="0"/>
              </a:spcBef>
            </a:pPr>
            <a:r>
              <a:rPr lang="en-US" sz="1299" u="none" strike="noStrike" dirty="0">
                <a:solidFill>
                  <a:srgbClr val="C8C8D8"/>
                </a:solidFill>
                <a:latin typeface="Inter"/>
                <a:ea typeface="Inter"/>
                <a:cs typeface="Inter"/>
                <a:sym typeface="Inter"/>
              </a:rPr>
              <a:t>Show suggested question chips</a:t>
            </a:r>
          </a:p>
        </p:txBody>
      </p:sp>
      <p:grpSp>
        <p:nvGrpSpPr>
          <p:cNvPr id="13" name="Group 13"/>
          <p:cNvGrpSpPr/>
          <p:nvPr/>
        </p:nvGrpSpPr>
        <p:grpSpPr>
          <a:xfrm>
            <a:off x="1143000" y="4381500"/>
            <a:ext cx="7620000" cy="1143000"/>
            <a:chOff x="0" y="0"/>
            <a:chExt cx="10160000" cy="1524000"/>
          </a:xfrm>
        </p:grpSpPr>
        <p:sp>
          <p:nvSpPr>
            <p:cNvPr id="14" name="Freeform 14"/>
            <p:cNvSpPr/>
            <p:nvPr/>
          </p:nvSpPr>
          <p:spPr>
            <a:xfrm>
              <a:off x="0" y="0"/>
              <a:ext cx="10160000" cy="1524000"/>
            </a:xfrm>
            <a:custGeom>
              <a:avLst/>
              <a:gdLst/>
              <a:ahLst/>
              <a:cxnLst/>
              <a:rect l="l" t="t" r="r" b="b"/>
              <a:pathLst>
                <a:path w="10160000" h="1524000">
                  <a:moveTo>
                    <a:pt x="152400" y="0"/>
                  </a:moveTo>
                  <a:lnTo>
                    <a:pt x="10007600" y="0"/>
                  </a:lnTo>
                  <a:cubicBezTo>
                    <a:pt x="10091769" y="0"/>
                    <a:pt x="10160000" y="68232"/>
                    <a:pt x="10160000" y="152400"/>
                  </a:cubicBezTo>
                  <a:lnTo>
                    <a:pt x="10160000" y="1371600"/>
                  </a:lnTo>
                  <a:cubicBezTo>
                    <a:pt x="10160000" y="1455768"/>
                    <a:pt x="10091769" y="1524000"/>
                    <a:pt x="10007600" y="1524000"/>
                  </a:cubicBezTo>
                  <a:lnTo>
                    <a:pt x="152400" y="1524000"/>
                  </a:lnTo>
                  <a:cubicBezTo>
                    <a:pt x="68232" y="1524000"/>
                    <a:pt x="0" y="1455768"/>
                    <a:pt x="0" y="1371600"/>
                  </a:cubicBezTo>
                  <a:lnTo>
                    <a:pt x="0" y="152400"/>
                  </a:lnTo>
                  <a:cubicBezTo>
                    <a:pt x="0" y="68232"/>
                    <a:pt x="68232" y="0"/>
                    <a:pt x="152400" y="0"/>
                  </a:cubicBezTo>
                  <a:close/>
                </a:path>
              </a:pathLst>
            </a:custGeom>
            <a:solidFill>
              <a:srgbClr val="1A1A2E">
                <a:alpha val="80000"/>
              </a:srgbClr>
            </a:solidFill>
            <a:ln w="9525" cap="sq">
              <a:solidFill>
                <a:srgbClr val="6C63FF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15" name="TextBox 15"/>
          <p:cNvSpPr txBox="1"/>
          <p:nvPr/>
        </p:nvSpPr>
        <p:spPr>
          <a:xfrm>
            <a:off x="1333500" y="4476750"/>
            <a:ext cx="7239000" cy="28321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2239"/>
              </a:lnSpc>
              <a:spcBef>
                <a:spcPct val="0"/>
              </a:spcBef>
            </a:pPr>
            <a:r>
              <a:rPr lang="en-US" sz="1599" u="none" strike="noStrike">
                <a:solidFill>
                  <a:srgbClr val="6C63FF"/>
                </a:solidFill>
                <a:latin typeface="Telegraf"/>
                <a:ea typeface="Telegraf"/>
                <a:cs typeface="Telegraf"/>
                <a:sym typeface="Telegraf"/>
              </a:rPr>
              <a:t>3.  RAG — PERSON PREP</a:t>
            </a:r>
          </a:p>
        </p:txBody>
      </p:sp>
      <p:sp>
        <p:nvSpPr>
          <p:cNvPr id="16" name="TextBox 16"/>
          <p:cNvSpPr txBox="1"/>
          <p:nvPr/>
        </p:nvSpPr>
        <p:spPr>
          <a:xfrm>
            <a:off x="1333500" y="4810125"/>
            <a:ext cx="7239000" cy="45275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1819"/>
              </a:lnSpc>
              <a:spcBef>
                <a:spcPct val="0"/>
              </a:spcBef>
            </a:pPr>
            <a:r>
              <a:rPr lang="en-US" sz="1299" u="none" strike="noStrike">
                <a:solidFill>
                  <a:srgbClr val="C8C8D8"/>
                </a:solidFill>
                <a:latin typeface="Inter"/>
                <a:ea typeface="Inter"/>
                <a:cs typeface="Inter"/>
                <a:sym typeface="Inter"/>
              </a:rPr>
              <a:t>Ask about Alex → grounded bullets from Customer Notes</a:t>
            </a:r>
          </a:p>
          <a:p>
            <a:pPr marL="0" lvl="0" indent="0" algn="l">
              <a:lnSpc>
                <a:spcPts val="1819"/>
              </a:lnSpc>
              <a:spcBef>
                <a:spcPct val="0"/>
              </a:spcBef>
            </a:pPr>
            <a:r>
              <a:rPr lang="en-US" sz="1299" u="none" strike="noStrike">
                <a:solidFill>
                  <a:srgbClr val="C8C8D8"/>
                </a:solidFill>
                <a:latin typeface="Inter"/>
                <a:ea typeface="Inter"/>
                <a:cs typeface="Inter"/>
                <a:sym typeface="Inter"/>
              </a:rPr>
              <a:t>KB only, no web search for person data</a:t>
            </a:r>
          </a:p>
        </p:txBody>
      </p:sp>
      <p:grpSp>
        <p:nvGrpSpPr>
          <p:cNvPr id="17" name="Group 17"/>
          <p:cNvGrpSpPr/>
          <p:nvPr/>
        </p:nvGrpSpPr>
        <p:grpSpPr>
          <a:xfrm>
            <a:off x="1143000" y="5619750"/>
            <a:ext cx="7620000" cy="1143000"/>
            <a:chOff x="0" y="0"/>
            <a:chExt cx="10160000" cy="1524000"/>
          </a:xfrm>
        </p:grpSpPr>
        <p:sp>
          <p:nvSpPr>
            <p:cNvPr id="18" name="Freeform 18"/>
            <p:cNvSpPr/>
            <p:nvPr/>
          </p:nvSpPr>
          <p:spPr>
            <a:xfrm>
              <a:off x="0" y="0"/>
              <a:ext cx="10160000" cy="1524000"/>
            </a:xfrm>
            <a:custGeom>
              <a:avLst/>
              <a:gdLst/>
              <a:ahLst/>
              <a:cxnLst/>
              <a:rect l="l" t="t" r="r" b="b"/>
              <a:pathLst>
                <a:path w="10160000" h="1524000">
                  <a:moveTo>
                    <a:pt x="152400" y="0"/>
                  </a:moveTo>
                  <a:lnTo>
                    <a:pt x="10007600" y="0"/>
                  </a:lnTo>
                  <a:cubicBezTo>
                    <a:pt x="10091769" y="0"/>
                    <a:pt x="10160000" y="68232"/>
                    <a:pt x="10160000" y="152400"/>
                  </a:cubicBezTo>
                  <a:lnTo>
                    <a:pt x="10160000" y="1371600"/>
                  </a:lnTo>
                  <a:cubicBezTo>
                    <a:pt x="10160000" y="1455768"/>
                    <a:pt x="10091769" y="1524000"/>
                    <a:pt x="10007600" y="1524000"/>
                  </a:cubicBezTo>
                  <a:lnTo>
                    <a:pt x="152400" y="1524000"/>
                  </a:lnTo>
                  <a:cubicBezTo>
                    <a:pt x="68232" y="1524000"/>
                    <a:pt x="0" y="1455768"/>
                    <a:pt x="0" y="1371600"/>
                  </a:cubicBezTo>
                  <a:lnTo>
                    <a:pt x="0" y="152400"/>
                  </a:lnTo>
                  <a:cubicBezTo>
                    <a:pt x="0" y="68232"/>
                    <a:pt x="68232" y="0"/>
                    <a:pt x="152400" y="0"/>
                  </a:cubicBezTo>
                  <a:close/>
                </a:path>
              </a:pathLst>
            </a:custGeom>
            <a:solidFill>
              <a:srgbClr val="1A1A2E">
                <a:alpha val="80000"/>
              </a:srgbClr>
            </a:solidFill>
            <a:ln w="9525" cap="sq">
              <a:solidFill>
                <a:srgbClr val="6C63FF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19" name="TextBox 19"/>
          <p:cNvSpPr txBox="1"/>
          <p:nvPr/>
        </p:nvSpPr>
        <p:spPr>
          <a:xfrm>
            <a:off x="1333500" y="5715000"/>
            <a:ext cx="7239000" cy="28321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2239"/>
              </a:lnSpc>
              <a:spcBef>
                <a:spcPct val="0"/>
              </a:spcBef>
            </a:pPr>
            <a:r>
              <a:rPr lang="en-US" sz="1599" u="none" strike="noStrike">
                <a:solidFill>
                  <a:srgbClr val="6C63FF"/>
                </a:solidFill>
                <a:latin typeface="Telegraf"/>
                <a:ea typeface="Telegraf"/>
                <a:cs typeface="Telegraf"/>
                <a:sym typeface="Telegraf"/>
              </a:rPr>
              <a:t>4.  RAG — PRODUCT PREP</a:t>
            </a:r>
          </a:p>
        </p:txBody>
      </p:sp>
      <p:sp>
        <p:nvSpPr>
          <p:cNvPr id="20" name="TextBox 20"/>
          <p:cNvSpPr txBox="1"/>
          <p:nvPr/>
        </p:nvSpPr>
        <p:spPr>
          <a:xfrm>
            <a:off x="1333500" y="6048375"/>
            <a:ext cx="7239000" cy="45275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1819"/>
              </a:lnSpc>
              <a:spcBef>
                <a:spcPct val="0"/>
              </a:spcBef>
            </a:pPr>
            <a:r>
              <a:rPr lang="en-US" sz="1299" u="none" strike="noStrike" dirty="0">
                <a:solidFill>
                  <a:srgbClr val="C8C8D8"/>
                </a:solidFill>
                <a:latin typeface="Inter"/>
                <a:ea typeface="Inter"/>
                <a:cs typeface="Inter"/>
                <a:sym typeface="Inter"/>
              </a:rPr>
              <a:t>Ask about objections → KB product docs + prospect notes</a:t>
            </a:r>
          </a:p>
          <a:p>
            <a:pPr marL="0" lvl="0" indent="0" algn="l">
              <a:lnSpc>
                <a:spcPts val="1819"/>
              </a:lnSpc>
              <a:spcBef>
                <a:spcPct val="0"/>
              </a:spcBef>
            </a:pPr>
            <a:r>
              <a:rPr lang="en-US" sz="1299" u="none" strike="noStrike" dirty="0">
                <a:solidFill>
                  <a:srgbClr val="C8C8D8"/>
                </a:solidFill>
                <a:latin typeface="Inter"/>
                <a:ea typeface="Inter"/>
                <a:cs typeface="Inter"/>
                <a:sym typeface="Inter"/>
              </a:rPr>
              <a:t>Filtered by active product metadata</a:t>
            </a:r>
          </a:p>
        </p:txBody>
      </p:sp>
      <p:grpSp>
        <p:nvGrpSpPr>
          <p:cNvPr id="21" name="Group 21"/>
          <p:cNvGrpSpPr/>
          <p:nvPr/>
        </p:nvGrpSpPr>
        <p:grpSpPr>
          <a:xfrm>
            <a:off x="1143000" y="6858000"/>
            <a:ext cx="7620000" cy="1143000"/>
            <a:chOff x="0" y="0"/>
            <a:chExt cx="10160000" cy="1524000"/>
          </a:xfrm>
        </p:grpSpPr>
        <p:sp>
          <p:nvSpPr>
            <p:cNvPr id="22" name="Freeform 22"/>
            <p:cNvSpPr/>
            <p:nvPr/>
          </p:nvSpPr>
          <p:spPr>
            <a:xfrm>
              <a:off x="0" y="0"/>
              <a:ext cx="10160000" cy="1524000"/>
            </a:xfrm>
            <a:custGeom>
              <a:avLst/>
              <a:gdLst/>
              <a:ahLst/>
              <a:cxnLst/>
              <a:rect l="l" t="t" r="r" b="b"/>
              <a:pathLst>
                <a:path w="10160000" h="1524000">
                  <a:moveTo>
                    <a:pt x="152400" y="0"/>
                  </a:moveTo>
                  <a:lnTo>
                    <a:pt x="10007600" y="0"/>
                  </a:lnTo>
                  <a:cubicBezTo>
                    <a:pt x="10091769" y="0"/>
                    <a:pt x="10160000" y="68232"/>
                    <a:pt x="10160000" y="152400"/>
                  </a:cubicBezTo>
                  <a:lnTo>
                    <a:pt x="10160000" y="1371600"/>
                  </a:lnTo>
                  <a:cubicBezTo>
                    <a:pt x="10160000" y="1455768"/>
                    <a:pt x="10091769" y="1524000"/>
                    <a:pt x="10007600" y="1524000"/>
                  </a:cubicBezTo>
                  <a:lnTo>
                    <a:pt x="152400" y="1524000"/>
                  </a:lnTo>
                  <a:cubicBezTo>
                    <a:pt x="68232" y="1524000"/>
                    <a:pt x="0" y="1455768"/>
                    <a:pt x="0" y="1371600"/>
                  </a:cubicBezTo>
                  <a:lnTo>
                    <a:pt x="0" y="152400"/>
                  </a:lnTo>
                  <a:cubicBezTo>
                    <a:pt x="0" y="68232"/>
                    <a:pt x="68232" y="0"/>
                    <a:pt x="152400" y="0"/>
                  </a:cubicBezTo>
                  <a:close/>
                </a:path>
              </a:pathLst>
            </a:custGeom>
            <a:solidFill>
              <a:srgbClr val="1A1A2E">
                <a:alpha val="80000"/>
              </a:srgbClr>
            </a:solidFill>
            <a:ln w="9525" cap="sq">
              <a:solidFill>
                <a:srgbClr val="6C63FF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23" name="TextBox 23"/>
          <p:cNvSpPr txBox="1"/>
          <p:nvPr/>
        </p:nvSpPr>
        <p:spPr>
          <a:xfrm>
            <a:off x="1333500" y="6953250"/>
            <a:ext cx="7239000" cy="28321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2239"/>
              </a:lnSpc>
              <a:spcBef>
                <a:spcPct val="0"/>
              </a:spcBef>
            </a:pPr>
            <a:r>
              <a:rPr lang="en-US" sz="1599" u="none" strike="noStrike">
                <a:solidFill>
                  <a:srgbClr val="6C63FF"/>
                </a:solidFill>
                <a:latin typeface="Telegraf"/>
                <a:ea typeface="Telegraf"/>
                <a:cs typeface="Telegraf"/>
                <a:sym typeface="Telegraf"/>
              </a:rPr>
              <a:t>5.  TOOL — COMPANY SEARCH</a:t>
            </a:r>
          </a:p>
        </p:txBody>
      </p:sp>
      <p:sp>
        <p:nvSpPr>
          <p:cNvPr id="24" name="TextBox 24"/>
          <p:cNvSpPr txBox="1"/>
          <p:nvPr/>
        </p:nvSpPr>
        <p:spPr>
          <a:xfrm>
            <a:off x="1333500" y="7286625"/>
            <a:ext cx="7239000" cy="45275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1819"/>
              </a:lnSpc>
              <a:spcBef>
                <a:spcPct val="0"/>
              </a:spcBef>
            </a:pPr>
            <a:r>
              <a:rPr lang="en-US" sz="1299" u="none" strike="noStrike">
                <a:solidFill>
                  <a:srgbClr val="C8C8D8"/>
                </a:solidFill>
                <a:latin typeface="Inter"/>
                <a:ea typeface="Inter"/>
                <a:cs typeface="Inter"/>
                <a:sym typeface="Inter"/>
              </a:rPr>
              <a:t>Ask about CloudScale → Tavily background</a:t>
            </a:r>
          </a:p>
          <a:p>
            <a:pPr marL="0" lvl="0" indent="0" algn="l">
              <a:lnSpc>
                <a:spcPts val="1819"/>
              </a:lnSpc>
              <a:spcBef>
                <a:spcPct val="0"/>
              </a:spcBef>
            </a:pPr>
            <a:r>
              <a:rPr lang="en-US" sz="1299" u="none" strike="noStrike">
                <a:solidFill>
                  <a:srgbClr val="C8C8D8"/>
                </a:solidFill>
                <a:latin typeface="Inter"/>
                <a:ea typeface="Inter"/>
                <a:cs typeface="Inter"/>
                <a:sym typeface="Inter"/>
              </a:rPr>
              <a:t>Contrast: person = KB, company = Tavily</a:t>
            </a:r>
          </a:p>
        </p:txBody>
      </p:sp>
      <p:grpSp>
        <p:nvGrpSpPr>
          <p:cNvPr id="25" name="Group 25"/>
          <p:cNvGrpSpPr/>
          <p:nvPr/>
        </p:nvGrpSpPr>
        <p:grpSpPr>
          <a:xfrm>
            <a:off x="9525000" y="1905000"/>
            <a:ext cx="7620000" cy="1143000"/>
            <a:chOff x="0" y="0"/>
            <a:chExt cx="10160000" cy="1524000"/>
          </a:xfrm>
        </p:grpSpPr>
        <p:sp>
          <p:nvSpPr>
            <p:cNvPr id="26" name="Freeform 26"/>
            <p:cNvSpPr/>
            <p:nvPr/>
          </p:nvSpPr>
          <p:spPr>
            <a:xfrm>
              <a:off x="0" y="0"/>
              <a:ext cx="10160000" cy="1524000"/>
            </a:xfrm>
            <a:custGeom>
              <a:avLst/>
              <a:gdLst/>
              <a:ahLst/>
              <a:cxnLst/>
              <a:rect l="l" t="t" r="r" b="b"/>
              <a:pathLst>
                <a:path w="10160000" h="1524000">
                  <a:moveTo>
                    <a:pt x="152400" y="0"/>
                  </a:moveTo>
                  <a:lnTo>
                    <a:pt x="10007600" y="0"/>
                  </a:lnTo>
                  <a:cubicBezTo>
                    <a:pt x="10091769" y="0"/>
                    <a:pt x="10160000" y="68232"/>
                    <a:pt x="10160000" y="152400"/>
                  </a:cubicBezTo>
                  <a:lnTo>
                    <a:pt x="10160000" y="1371600"/>
                  </a:lnTo>
                  <a:cubicBezTo>
                    <a:pt x="10160000" y="1455768"/>
                    <a:pt x="10091769" y="1524000"/>
                    <a:pt x="10007600" y="1524000"/>
                  </a:cubicBezTo>
                  <a:lnTo>
                    <a:pt x="152400" y="1524000"/>
                  </a:lnTo>
                  <a:cubicBezTo>
                    <a:pt x="68232" y="1524000"/>
                    <a:pt x="0" y="1455768"/>
                    <a:pt x="0" y="1371600"/>
                  </a:cubicBezTo>
                  <a:lnTo>
                    <a:pt x="0" y="152400"/>
                  </a:lnTo>
                  <a:cubicBezTo>
                    <a:pt x="0" y="68232"/>
                    <a:pt x="68232" y="0"/>
                    <a:pt x="152400" y="0"/>
                  </a:cubicBezTo>
                  <a:close/>
                </a:path>
              </a:pathLst>
            </a:custGeom>
            <a:solidFill>
              <a:srgbClr val="1A1A2E">
                <a:alpha val="80000"/>
              </a:srgbClr>
            </a:solidFill>
            <a:ln w="9525" cap="sq">
              <a:solidFill>
                <a:srgbClr val="6C63FF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27" name="TextBox 27"/>
          <p:cNvSpPr txBox="1"/>
          <p:nvPr/>
        </p:nvSpPr>
        <p:spPr>
          <a:xfrm>
            <a:off x="9715500" y="2000250"/>
            <a:ext cx="7239000" cy="28321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2239"/>
              </a:lnSpc>
              <a:spcBef>
                <a:spcPct val="0"/>
              </a:spcBef>
            </a:pPr>
            <a:r>
              <a:rPr lang="en-US" sz="1599" u="none" strike="noStrike">
                <a:solidFill>
                  <a:srgbClr val="6C63FF"/>
                </a:solidFill>
                <a:latin typeface="Telegraf"/>
                <a:ea typeface="Telegraf"/>
                <a:cs typeface="Telegraf"/>
                <a:sym typeface="Telegraf"/>
              </a:rPr>
              <a:t>6.  TOOL — CALENDAR</a:t>
            </a:r>
          </a:p>
        </p:txBody>
      </p:sp>
      <p:sp>
        <p:nvSpPr>
          <p:cNvPr id="28" name="TextBox 28"/>
          <p:cNvSpPr txBox="1"/>
          <p:nvPr/>
        </p:nvSpPr>
        <p:spPr>
          <a:xfrm>
            <a:off x="9715500" y="2333625"/>
            <a:ext cx="7239000" cy="45275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1819"/>
              </a:lnSpc>
              <a:spcBef>
                <a:spcPct val="0"/>
              </a:spcBef>
            </a:pPr>
            <a:r>
              <a:rPr lang="en-US" sz="1299" u="none" strike="noStrike">
                <a:solidFill>
                  <a:srgbClr val="C8C8D8"/>
                </a:solidFill>
                <a:latin typeface="Inter"/>
                <a:ea typeface="Inter"/>
                <a:cs typeface="Inter"/>
                <a:sym typeface="Inter"/>
              </a:rPr>
              <a:t>Ask today's calls → Google Calendar events</a:t>
            </a:r>
          </a:p>
          <a:p>
            <a:pPr marL="0" lvl="0" indent="0" algn="l">
              <a:lnSpc>
                <a:spcPts val="1819"/>
              </a:lnSpc>
              <a:spcBef>
                <a:spcPct val="0"/>
              </a:spcBef>
            </a:pPr>
            <a:r>
              <a:rPr lang="en-US" sz="1299" u="none" strike="noStrike">
                <a:solidFill>
                  <a:srgbClr val="C8C8D8"/>
                </a:solidFill>
                <a:latin typeface="Inter"/>
                <a:ea typeface="Inter"/>
                <a:cs typeface="Inter"/>
                <a:sym typeface="Inter"/>
              </a:rPr>
              <a:t>Verify against calendar tab</a:t>
            </a:r>
          </a:p>
        </p:txBody>
      </p:sp>
      <p:grpSp>
        <p:nvGrpSpPr>
          <p:cNvPr id="29" name="Group 29"/>
          <p:cNvGrpSpPr/>
          <p:nvPr/>
        </p:nvGrpSpPr>
        <p:grpSpPr>
          <a:xfrm>
            <a:off x="9525000" y="3143250"/>
            <a:ext cx="7620000" cy="1143000"/>
            <a:chOff x="0" y="0"/>
            <a:chExt cx="10160000" cy="1524000"/>
          </a:xfrm>
        </p:grpSpPr>
        <p:sp>
          <p:nvSpPr>
            <p:cNvPr id="30" name="Freeform 30"/>
            <p:cNvSpPr/>
            <p:nvPr/>
          </p:nvSpPr>
          <p:spPr>
            <a:xfrm>
              <a:off x="0" y="0"/>
              <a:ext cx="10160000" cy="1524000"/>
            </a:xfrm>
            <a:custGeom>
              <a:avLst/>
              <a:gdLst/>
              <a:ahLst/>
              <a:cxnLst/>
              <a:rect l="l" t="t" r="r" b="b"/>
              <a:pathLst>
                <a:path w="10160000" h="1524000">
                  <a:moveTo>
                    <a:pt x="152400" y="0"/>
                  </a:moveTo>
                  <a:lnTo>
                    <a:pt x="10007600" y="0"/>
                  </a:lnTo>
                  <a:cubicBezTo>
                    <a:pt x="10091769" y="0"/>
                    <a:pt x="10160000" y="68232"/>
                    <a:pt x="10160000" y="152400"/>
                  </a:cubicBezTo>
                  <a:lnTo>
                    <a:pt x="10160000" y="1371600"/>
                  </a:lnTo>
                  <a:cubicBezTo>
                    <a:pt x="10160000" y="1455768"/>
                    <a:pt x="10091769" y="1524000"/>
                    <a:pt x="10007600" y="1524000"/>
                  </a:cubicBezTo>
                  <a:lnTo>
                    <a:pt x="152400" y="1524000"/>
                  </a:lnTo>
                  <a:cubicBezTo>
                    <a:pt x="68232" y="1524000"/>
                    <a:pt x="0" y="1455768"/>
                    <a:pt x="0" y="1371600"/>
                  </a:cubicBezTo>
                  <a:lnTo>
                    <a:pt x="0" y="152400"/>
                  </a:lnTo>
                  <a:cubicBezTo>
                    <a:pt x="0" y="68232"/>
                    <a:pt x="68232" y="0"/>
                    <a:pt x="152400" y="0"/>
                  </a:cubicBezTo>
                  <a:close/>
                </a:path>
              </a:pathLst>
            </a:custGeom>
            <a:solidFill>
              <a:srgbClr val="1A1A2E">
                <a:alpha val="80000"/>
              </a:srgbClr>
            </a:solidFill>
            <a:ln w="9525" cap="sq">
              <a:solidFill>
                <a:srgbClr val="6C63FF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31" name="TextBox 31"/>
          <p:cNvSpPr txBox="1"/>
          <p:nvPr/>
        </p:nvSpPr>
        <p:spPr>
          <a:xfrm>
            <a:off x="9715500" y="3238500"/>
            <a:ext cx="7239000" cy="28321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2239"/>
              </a:lnSpc>
              <a:spcBef>
                <a:spcPct val="0"/>
              </a:spcBef>
            </a:pPr>
            <a:r>
              <a:rPr lang="en-US" sz="1599" u="none" strike="noStrike">
                <a:solidFill>
                  <a:srgbClr val="6C63FF"/>
                </a:solidFill>
                <a:latin typeface="Telegraf"/>
                <a:ea typeface="Telegraf"/>
                <a:cs typeface="Telegraf"/>
                <a:sym typeface="Telegraf"/>
              </a:rPr>
              <a:t>7.  TOOL — EMAIL</a:t>
            </a:r>
          </a:p>
        </p:txBody>
      </p:sp>
      <p:sp>
        <p:nvSpPr>
          <p:cNvPr id="32" name="TextBox 32"/>
          <p:cNvSpPr txBox="1"/>
          <p:nvPr/>
        </p:nvSpPr>
        <p:spPr>
          <a:xfrm>
            <a:off x="9715500" y="3571875"/>
            <a:ext cx="7239000" cy="45275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1819"/>
              </a:lnSpc>
              <a:spcBef>
                <a:spcPct val="0"/>
              </a:spcBef>
            </a:pPr>
            <a:r>
              <a:rPr lang="en-US" sz="1299" u="none" strike="noStrike">
                <a:solidFill>
                  <a:srgbClr val="C8C8D8"/>
                </a:solidFill>
                <a:latin typeface="Inter"/>
                <a:ea typeface="Inter"/>
                <a:cs typeface="Inter"/>
                <a:sym typeface="Inter"/>
              </a:rPr>
              <a:t>Send call update → Resend API</a:t>
            </a:r>
          </a:p>
          <a:p>
            <a:pPr marL="0" lvl="0" indent="0" algn="l">
              <a:lnSpc>
                <a:spcPts val="1819"/>
              </a:lnSpc>
              <a:spcBef>
                <a:spcPct val="0"/>
              </a:spcBef>
            </a:pPr>
            <a:r>
              <a:rPr lang="en-US" sz="1299" u="none" strike="noStrike">
                <a:solidFill>
                  <a:srgbClr val="C8C8D8"/>
                </a:solidFill>
                <a:latin typeface="Inter"/>
                <a:ea typeface="Inter"/>
                <a:cs typeface="Inter"/>
                <a:sym typeface="Inter"/>
              </a:rPr>
              <a:t>Verify email arrives in Gmail</a:t>
            </a:r>
          </a:p>
        </p:txBody>
      </p:sp>
      <p:grpSp>
        <p:nvGrpSpPr>
          <p:cNvPr id="33" name="Group 33"/>
          <p:cNvGrpSpPr/>
          <p:nvPr/>
        </p:nvGrpSpPr>
        <p:grpSpPr>
          <a:xfrm>
            <a:off x="9525000" y="4381500"/>
            <a:ext cx="7620000" cy="1143000"/>
            <a:chOff x="0" y="0"/>
            <a:chExt cx="10160000" cy="1524000"/>
          </a:xfrm>
        </p:grpSpPr>
        <p:sp>
          <p:nvSpPr>
            <p:cNvPr id="34" name="Freeform 34"/>
            <p:cNvSpPr/>
            <p:nvPr/>
          </p:nvSpPr>
          <p:spPr>
            <a:xfrm>
              <a:off x="0" y="0"/>
              <a:ext cx="10160000" cy="1524000"/>
            </a:xfrm>
            <a:custGeom>
              <a:avLst/>
              <a:gdLst/>
              <a:ahLst/>
              <a:cxnLst/>
              <a:rect l="l" t="t" r="r" b="b"/>
              <a:pathLst>
                <a:path w="10160000" h="1524000">
                  <a:moveTo>
                    <a:pt x="152400" y="0"/>
                  </a:moveTo>
                  <a:lnTo>
                    <a:pt x="10007600" y="0"/>
                  </a:lnTo>
                  <a:cubicBezTo>
                    <a:pt x="10091769" y="0"/>
                    <a:pt x="10160000" y="68232"/>
                    <a:pt x="10160000" y="152400"/>
                  </a:cubicBezTo>
                  <a:lnTo>
                    <a:pt x="10160000" y="1371600"/>
                  </a:lnTo>
                  <a:cubicBezTo>
                    <a:pt x="10160000" y="1455768"/>
                    <a:pt x="10091769" y="1524000"/>
                    <a:pt x="10007600" y="1524000"/>
                  </a:cubicBezTo>
                  <a:lnTo>
                    <a:pt x="152400" y="1524000"/>
                  </a:lnTo>
                  <a:cubicBezTo>
                    <a:pt x="68232" y="1524000"/>
                    <a:pt x="0" y="1455768"/>
                    <a:pt x="0" y="1371600"/>
                  </a:cubicBezTo>
                  <a:lnTo>
                    <a:pt x="0" y="152400"/>
                  </a:lnTo>
                  <a:cubicBezTo>
                    <a:pt x="0" y="68232"/>
                    <a:pt x="68232" y="0"/>
                    <a:pt x="152400" y="0"/>
                  </a:cubicBezTo>
                  <a:close/>
                </a:path>
              </a:pathLst>
            </a:custGeom>
            <a:solidFill>
              <a:srgbClr val="1A1A2E">
                <a:alpha val="80000"/>
              </a:srgbClr>
            </a:solidFill>
            <a:ln w="9525" cap="sq">
              <a:solidFill>
                <a:srgbClr val="6C63FF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35" name="TextBox 35"/>
          <p:cNvSpPr txBox="1"/>
          <p:nvPr/>
        </p:nvSpPr>
        <p:spPr>
          <a:xfrm>
            <a:off x="9715500" y="4476750"/>
            <a:ext cx="7239000" cy="28321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2239"/>
              </a:lnSpc>
              <a:spcBef>
                <a:spcPct val="0"/>
              </a:spcBef>
            </a:pPr>
            <a:r>
              <a:rPr lang="en-US" sz="1599" u="none" strike="noStrike">
                <a:solidFill>
                  <a:srgbClr val="6C63FF"/>
                </a:solidFill>
                <a:latin typeface="Telegraf"/>
                <a:ea typeface="Telegraf"/>
                <a:cs typeface="Telegraf"/>
                <a:sym typeface="Telegraf"/>
              </a:rPr>
              <a:t>8.  LIVE MODE</a:t>
            </a:r>
          </a:p>
        </p:txBody>
      </p:sp>
      <p:sp>
        <p:nvSpPr>
          <p:cNvPr id="36" name="TextBox 36"/>
          <p:cNvSpPr txBox="1"/>
          <p:nvPr/>
        </p:nvSpPr>
        <p:spPr>
          <a:xfrm>
            <a:off x="9715500" y="4810125"/>
            <a:ext cx="7239000" cy="45275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1819"/>
              </a:lnSpc>
              <a:spcBef>
                <a:spcPct val="0"/>
              </a:spcBef>
            </a:pPr>
            <a:r>
              <a:rPr lang="en-US" sz="1299" u="none" strike="noStrike">
                <a:solidFill>
                  <a:srgbClr val="C8C8D8"/>
                </a:solidFill>
                <a:latin typeface="Inter"/>
                <a:ea typeface="Inter"/>
                <a:cs typeface="Inter"/>
                <a:sym typeface="Inter"/>
              </a:rPr>
              <a:t>Toggle Live → paste objection</a:t>
            </a:r>
          </a:p>
          <a:p>
            <a:pPr marL="0" lvl="0" indent="0" algn="l">
              <a:lnSpc>
                <a:spcPts val="1819"/>
              </a:lnSpc>
              <a:spcBef>
                <a:spcPct val="0"/>
              </a:spcBef>
            </a:pPr>
            <a:r>
              <a:rPr lang="en-US" sz="1299" u="none" strike="noStrike">
                <a:solidFill>
                  <a:srgbClr val="C8C8D8"/>
                </a:solidFill>
                <a:latin typeface="Inter"/>
                <a:ea typeface="Inter"/>
                <a:cs typeface="Inter"/>
                <a:sym typeface="Inter"/>
              </a:rPr>
              <a:t>4 urgent bullets + Next move</a:t>
            </a:r>
          </a:p>
        </p:txBody>
      </p:sp>
      <p:grpSp>
        <p:nvGrpSpPr>
          <p:cNvPr id="37" name="Group 37"/>
          <p:cNvGrpSpPr/>
          <p:nvPr/>
        </p:nvGrpSpPr>
        <p:grpSpPr>
          <a:xfrm>
            <a:off x="9525000" y="5619750"/>
            <a:ext cx="7620000" cy="1143000"/>
            <a:chOff x="0" y="0"/>
            <a:chExt cx="10160000" cy="1524000"/>
          </a:xfrm>
        </p:grpSpPr>
        <p:sp>
          <p:nvSpPr>
            <p:cNvPr id="38" name="Freeform 38"/>
            <p:cNvSpPr/>
            <p:nvPr/>
          </p:nvSpPr>
          <p:spPr>
            <a:xfrm>
              <a:off x="0" y="0"/>
              <a:ext cx="10160000" cy="1524000"/>
            </a:xfrm>
            <a:custGeom>
              <a:avLst/>
              <a:gdLst/>
              <a:ahLst/>
              <a:cxnLst/>
              <a:rect l="l" t="t" r="r" b="b"/>
              <a:pathLst>
                <a:path w="10160000" h="1524000">
                  <a:moveTo>
                    <a:pt x="152400" y="0"/>
                  </a:moveTo>
                  <a:lnTo>
                    <a:pt x="10007600" y="0"/>
                  </a:lnTo>
                  <a:cubicBezTo>
                    <a:pt x="10091769" y="0"/>
                    <a:pt x="10160000" y="68232"/>
                    <a:pt x="10160000" y="152400"/>
                  </a:cubicBezTo>
                  <a:lnTo>
                    <a:pt x="10160000" y="1371600"/>
                  </a:lnTo>
                  <a:cubicBezTo>
                    <a:pt x="10160000" y="1455768"/>
                    <a:pt x="10091769" y="1524000"/>
                    <a:pt x="10007600" y="1524000"/>
                  </a:cubicBezTo>
                  <a:lnTo>
                    <a:pt x="152400" y="1524000"/>
                  </a:lnTo>
                  <a:cubicBezTo>
                    <a:pt x="68232" y="1524000"/>
                    <a:pt x="0" y="1455768"/>
                    <a:pt x="0" y="1371600"/>
                  </a:cubicBezTo>
                  <a:lnTo>
                    <a:pt x="0" y="152400"/>
                  </a:lnTo>
                  <a:cubicBezTo>
                    <a:pt x="0" y="68232"/>
                    <a:pt x="68232" y="0"/>
                    <a:pt x="152400" y="0"/>
                  </a:cubicBezTo>
                  <a:close/>
                </a:path>
              </a:pathLst>
            </a:custGeom>
            <a:solidFill>
              <a:srgbClr val="1A1A2E">
                <a:alpha val="80000"/>
              </a:srgbClr>
            </a:solidFill>
            <a:ln w="9525" cap="sq">
              <a:solidFill>
                <a:srgbClr val="6C63FF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39" name="TextBox 39"/>
          <p:cNvSpPr txBox="1"/>
          <p:nvPr/>
        </p:nvSpPr>
        <p:spPr>
          <a:xfrm>
            <a:off x="9715500" y="5715000"/>
            <a:ext cx="7239000" cy="28321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2239"/>
              </a:lnSpc>
              <a:spcBef>
                <a:spcPct val="0"/>
              </a:spcBef>
            </a:pPr>
            <a:r>
              <a:rPr lang="en-US" sz="1599" u="none" strike="noStrike">
                <a:solidFill>
                  <a:srgbClr val="6C63FF"/>
                </a:solidFill>
                <a:latin typeface="Telegraf"/>
                <a:ea typeface="Telegraf"/>
                <a:cs typeface="Telegraf"/>
                <a:sym typeface="Telegraf"/>
              </a:rPr>
              <a:t>9.  KNOWLEDGE GAPS</a:t>
            </a:r>
          </a:p>
        </p:txBody>
      </p:sp>
      <p:sp>
        <p:nvSpPr>
          <p:cNvPr id="40" name="TextBox 40"/>
          <p:cNvSpPr txBox="1"/>
          <p:nvPr/>
        </p:nvSpPr>
        <p:spPr>
          <a:xfrm>
            <a:off x="9715500" y="6048375"/>
            <a:ext cx="7239000" cy="45275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1819"/>
              </a:lnSpc>
              <a:spcBef>
                <a:spcPct val="0"/>
              </a:spcBef>
            </a:pPr>
            <a:r>
              <a:rPr lang="en-US" sz="1299" u="none" strike="noStrike" dirty="0">
                <a:solidFill>
                  <a:srgbClr val="C8C8D8"/>
                </a:solidFill>
                <a:latin typeface="Inter"/>
                <a:ea typeface="Inter"/>
                <a:cs typeface="Inter"/>
                <a:sym typeface="Inter"/>
              </a:rPr>
              <a:t>Ask unknown question → logged to /gaps</a:t>
            </a:r>
          </a:p>
          <a:p>
            <a:pPr marL="0" lvl="0" indent="0" algn="l">
              <a:lnSpc>
                <a:spcPts val="1819"/>
              </a:lnSpc>
              <a:spcBef>
                <a:spcPct val="0"/>
              </a:spcBef>
            </a:pPr>
            <a:r>
              <a:rPr lang="en-US" sz="1299" u="none" strike="noStrike" dirty="0">
                <a:solidFill>
                  <a:srgbClr val="C8C8D8"/>
                </a:solidFill>
                <a:latin typeface="Inter"/>
                <a:ea typeface="Inter"/>
                <a:cs typeface="Inter"/>
                <a:sym typeface="Inter"/>
              </a:rPr>
              <a:t>Show gap dashboard with timestamp</a:t>
            </a:r>
          </a:p>
        </p:txBody>
      </p:sp>
      <p:grpSp>
        <p:nvGrpSpPr>
          <p:cNvPr id="41" name="Group 41"/>
          <p:cNvGrpSpPr/>
          <p:nvPr/>
        </p:nvGrpSpPr>
        <p:grpSpPr>
          <a:xfrm>
            <a:off x="9525000" y="6858000"/>
            <a:ext cx="7620000" cy="1143000"/>
            <a:chOff x="0" y="0"/>
            <a:chExt cx="10160000" cy="1524000"/>
          </a:xfrm>
        </p:grpSpPr>
        <p:sp>
          <p:nvSpPr>
            <p:cNvPr id="42" name="Freeform 42"/>
            <p:cNvSpPr/>
            <p:nvPr/>
          </p:nvSpPr>
          <p:spPr>
            <a:xfrm>
              <a:off x="0" y="0"/>
              <a:ext cx="10160000" cy="1524000"/>
            </a:xfrm>
            <a:custGeom>
              <a:avLst/>
              <a:gdLst/>
              <a:ahLst/>
              <a:cxnLst/>
              <a:rect l="l" t="t" r="r" b="b"/>
              <a:pathLst>
                <a:path w="10160000" h="1524000">
                  <a:moveTo>
                    <a:pt x="152400" y="0"/>
                  </a:moveTo>
                  <a:lnTo>
                    <a:pt x="10007600" y="0"/>
                  </a:lnTo>
                  <a:cubicBezTo>
                    <a:pt x="10091769" y="0"/>
                    <a:pt x="10160000" y="68232"/>
                    <a:pt x="10160000" y="152400"/>
                  </a:cubicBezTo>
                  <a:lnTo>
                    <a:pt x="10160000" y="1371600"/>
                  </a:lnTo>
                  <a:cubicBezTo>
                    <a:pt x="10160000" y="1455768"/>
                    <a:pt x="10091769" y="1524000"/>
                    <a:pt x="10007600" y="1524000"/>
                  </a:cubicBezTo>
                  <a:lnTo>
                    <a:pt x="152400" y="1524000"/>
                  </a:lnTo>
                  <a:cubicBezTo>
                    <a:pt x="68232" y="1524000"/>
                    <a:pt x="0" y="1455768"/>
                    <a:pt x="0" y="1371600"/>
                  </a:cubicBezTo>
                  <a:lnTo>
                    <a:pt x="0" y="152400"/>
                  </a:lnTo>
                  <a:cubicBezTo>
                    <a:pt x="0" y="68232"/>
                    <a:pt x="68232" y="0"/>
                    <a:pt x="152400" y="0"/>
                  </a:cubicBezTo>
                  <a:close/>
                </a:path>
              </a:pathLst>
            </a:custGeom>
            <a:solidFill>
              <a:srgbClr val="1A1A2E">
                <a:alpha val="80000"/>
              </a:srgbClr>
            </a:solidFill>
            <a:ln w="9525" cap="sq">
              <a:solidFill>
                <a:srgbClr val="6C63FF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43" name="TextBox 43"/>
          <p:cNvSpPr txBox="1"/>
          <p:nvPr/>
        </p:nvSpPr>
        <p:spPr>
          <a:xfrm>
            <a:off x="9715500" y="6953250"/>
            <a:ext cx="7239000" cy="28321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2239"/>
              </a:lnSpc>
              <a:spcBef>
                <a:spcPct val="0"/>
              </a:spcBef>
            </a:pPr>
            <a:r>
              <a:rPr lang="en-US" sz="1599" u="none" strike="noStrike">
                <a:solidFill>
                  <a:srgbClr val="6C63FF"/>
                </a:solidFill>
                <a:latin typeface="Telegraf"/>
                <a:ea typeface="Telegraf"/>
                <a:cs typeface="Telegraf"/>
                <a:sym typeface="Telegraf"/>
              </a:rPr>
              <a:t>10. RESPONSE QUALITY</a:t>
            </a:r>
          </a:p>
        </p:txBody>
      </p:sp>
      <p:sp>
        <p:nvSpPr>
          <p:cNvPr id="44" name="TextBox 44"/>
          <p:cNvSpPr txBox="1"/>
          <p:nvPr/>
        </p:nvSpPr>
        <p:spPr>
          <a:xfrm>
            <a:off x="9715500" y="7286625"/>
            <a:ext cx="7239000" cy="45275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1819"/>
              </a:lnSpc>
              <a:spcBef>
                <a:spcPct val="0"/>
              </a:spcBef>
            </a:pPr>
            <a:r>
              <a:rPr lang="en-US" sz="1299" u="none" strike="noStrike" dirty="0">
                <a:solidFill>
                  <a:srgbClr val="C8C8D8"/>
                </a:solidFill>
                <a:latin typeface="Inter"/>
                <a:ea typeface="Inter"/>
                <a:cs typeface="Inter"/>
                <a:sym typeface="Inter"/>
              </a:rPr>
              <a:t>Bullet-formatted, prospect-specific, cited sources</a:t>
            </a:r>
          </a:p>
          <a:p>
            <a:pPr marL="0" lvl="0" indent="0" algn="l">
              <a:lnSpc>
                <a:spcPts val="1819"/>
              </a:lnSpc>
              <a:spcBef>
                <a:spcPct val="0"/>
              </a:spcBef>
            </a:pPr>
            <a:r>
              <a:rPr lang="en-US" sz="1299" u="none" strike="noStrike" dirty="0">
                <a:solidFill>
                  <a:srgbClr val="C8C8D8"/>
                </a:solidFill>
                <a:latin typeface="Inter"/>
                <a:ea typeface="Inter"/>
                <a:cs typeface="Inter"/>
                <a:sym typeface="Inter"/>
              </a:rPr>
              <a:t>Prep = calm notes, Live = urgent coaching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3" name="TextBox 3"/>
          <p:cNvSpPr txBox="1"/>
          <p:nvPr/>
        </p:nvSpPr>
        <p:spPr>
          <a:xfrm>
            <a:off x="5334000" y="428625"/>
            <a:ext cx="7620000" cy="93575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7222"/>
              </a:lnSpc>
              <a:spcBef>
                <a:spcPct val="0"/>
              </a:spcBef>
            </a:pPr>
            <a:r>
              <a:rPr lang="en-US" sz="5159" u="none" strike="noStrike">
                <a:solidFill>
                  <a:srgbClr val="FFFFFF"/>
                </a:solidFill>
                <a:latin typeface="Telegraf"/>
                <a:ea typeface="Telegraf"/>
                <a:cs typeface="Telegraf"/>
                <a:sym typeface="Telegraf"/>
              </a:rPr>
              <a:t>Challenges &amp; Next Steps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6286500" y="1326281"/>
            <a:ext cx="5715000" cy="30670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2520"/>
              </a:lnSpc>
              <a:spcBef>
                <a:spcPct val="0"/>
              </a:spcBef>
            </a:pPr>
            <a:r>
              <a:rPr lang="en-US" sz="1800" u="none" strike="noStrike">
                <a:solidFill>
                  <a:srgbClr val="A0A0B8"/>
                </a:solidFill>
                <a:latin typeface="Inter"/>
                <a:ea typeface="Inter"/>
                <a:cs typeface="Inter"/>
                <a:sym typeface="Inter"/>
              </a:rPr>
              <a:t>What we learned and where we go from here</a:t>
            </a:r>
          </a:p>
        </p:txBody>
      </p:sp>
      <p:grpSp>
        <p:nvGrpSpPr>
          <p:cNvPr id="5" name="Group 5"/>
          <p:cNvGrpSpPr/>
          <p:nvPr/>
        </p:nvGrpSpPr>
        <p:grpSpPr>
          <a:xfrm>
            <a:off x="1047750" y="1905000"/>
            <a:ext cx="5143500" cy="6096000"/>
            <a:chOff x="0" y="0"/>
            <a:chExt cx="6858000" cy="8128000"/>
          </a:xfrm>
        </p:grpSpPr>
        <p:sp>
          <p:nvSpPr>
            <p:cNvPr id="6" name="Freeform 6"/>
            <p:cNvSpPr/>
            <p:nvPr/>
          </p:nvSpPr>
          <p:spPr>
            <a:xfrm>
              <a:off x="0" y="0"/>
              <a:ext cx="6858000" cy="8128000"/>
            </a:xfrm>
            <a:custGeom>
              <a:avLst/>
              <a:gdLst/>
              <a:ahLst/>
              <a:cxnLst/>
              <a:rect l="l" t="t" r="r" b="b"/>
              <a:pathLst>
                <a:path w="6858000" h="8128000">
                  <a:moveTo>
                    <a:pt x="685800" y="0"/>
                  </a:moveTo>
                  <a:lnTo>
                    <a:pt x="6172200" y="0"/>
                  </a:lnTo>
                  <a:cubicBezTo>
                    <a:pt x="6550957" y="0"/>
                    <a:pt x="6858000" y="262010"/>
                    <a:pt x="6858000" y="585216"/>
                  </a:cubicBezTo>
                  <a:lnTo>
                    <a:pt x="6858000" y="7542784"/>
                  </a:lnTo>
                  <a:cubicBezTo>
                    <a:pt x="6858000" y="7865990"/>
                    <a:pt x="6550957" y="8128000"/>
                    <a:pt x="6172200" y="8128000"/>
                  </a:cubicBezTo>
                  <a:lnTo>
                    <a:pt x="685800" y="8128000"/>
                  </a:lnTo>
                  <a:cubicBezTo>
                    <a:pt x="307043" y="8128000"/>
                    <a:pt x="0" y="7865990"/>
                    <a:pt x="0" y="7542784"/>
                  </a:cubicBezTo>
                  <a:lnTo>
                    <a:pt x="0" y="585216"/>
                  </a:lnTo>
                  <a:cubicBezTo>
                    <a:pt x="0" y="262010"/>
                    <a:pt x="307043" y="0"/>
                    <a:pt x="685800" y="0"/>
                  </a:cubicBezTo>
                  <a:close/>
                </a:path>
              </a:pathLst>
            </a:custGeom>
            <a:solidFill>
              <a:srgbClr val="1A1A2E">
                <a:alpha val="80000"/>
              </a:srgbClr>
            </a:solidFill>
            <a:ln w="9525" cap="sq">
              <a:solidFill>
                <a:srgbClr val="4CAF5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7" name="TextBox 7"/>
          <p:cNvSpPr txBox="1"/>
          <p:nvPr/>
        </p:nvSpPr>
        <p:spPr>
          <a:xfrm>
            <a:off x="1238250" y="2057400"/>
            <a:ext cx="4762500" cy="4095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3079"/>
              </a:lnSpc>
              <a:spcBef>
                <a:spcPct val="0"/>
              </a:spcBef>
            </a:pPr>
            <a:r>
              <a:rPr lang="en-US" sz="2199" u="none" strike="noStrike">
                <a:solidFill>
                  <a:srgbClr val="4CAF50"/>
                </a:solidFill>
                <a:latin typeface="Telegraf"/>
                <a:ea typeface="Telegraf"/>
                <a:cs typeface="Telegraf"/>
                <a:sym typeface="Telegraf"/>
              </a:rPr>
              <a:t>✅  WHAT WORKS</a:t>
            </a:r>
          </a:p>
        </p:txBody>
      </p:sp>
      <p:sp>
        <p:nvSpPr>
          <p:cNvPr id="8" name="AutoShape 8"/>
          <p:cNvSpPr/>
          <p:nvPr/>
        </p:nvSpPr>
        <p:spPr>
          <a:xfrm>
            <a:off x="1238250" y="2524125"/>
            <a:ext cx="4762500" cy="0"/>
          </a:xfrm>
          <a:prstGeom prst="line">
            <a:avLst/>
          </a:prstGeom>
          <a:ln w="9525" cap="rnd">
            <a:solidFill>
              <a:srgbClr val="4CAF50">
                <a:alpha val="49804"/>
              </a:srgbClr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Box 9"/>
          <p:cNvSpPr txBox="1"/>
          <p:nvPr/>
        </p:nvSpPr>
        <p:spPr>
          <a:xfrm>
            <a:off x="1285875" y="2390775"/>
            <a:ext cx="4667250" cy="539115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6159"/>
              </a:lnSpc>
              <a:spcBef>
                <a:spcPct val="0"/>
              </a:spcBef>
            </a:pPr>
            <a:r>
              <a:rPr lang="en-US" sz="2799" u="none" strike="noStrike">
                <a:solidFill>
                  <a:srgbClr val="C8C8D8"/>
                </a:solidFill>
                <a:latin typeface="Inter"/>
                <a:ea typeface="Inter"/>
                <a:cs typeface="Inter"/>
                <a:sym typeface="Inter"/>
              </a:rPr>
              <a:t>•  RAG-grounded answers</a:t>
            </a:r>
          </a:p>
          <a:p>
            <a:pPr marL="0" lvl="0" indent="0" algn="l">
              <a:lnSpc>
                <a:spcPts val="6159"/>
              </a:lnSpc>
              <a:spcBef>
                <a:spcPct val="0"/>
              </a:spcBef>
            </a:pPr>
            <a:endParaRPr lang="en-US" sz="2799" u="none" strike="noStrike">
              <a:solidFill>
                <a:srgbClr val="C8C8D8"/>
              </a:solidFill>
              <a:latin typeface="Inter"/>
              <a:ea typeface="Inter"/>
              <a:cs typeface="Inter"/>
              <a:sym typeface="Inter"/>
            </a:endParaRPr>
          </a:p>
          <a:p>
            <a:pPr marL="0" lvl="0" indent="0" algn="l">
              <a:lnSpc>
                <a:spcPts val="6159"/>
              </a:lnSpc>
              <a:spcBef>
                <a:spcPct val="0"/>
              </a:spcBef>
            </a:pPr>
            <a:r>
              <a:rPr lang="en-US" sz="2799" u="none" strike="noStrike">
                <a:solidFill>
                  <a:srgbClr val="C8C8D8"/>
                </a:solidFill>
                <a:latin typeface="Inter"/>
                <a:ea typeface="Inter"/>
                <a:cs typeface="Inter"/>
                <a:sym typeface="Inter"/>
              </a:rPr>
              <a:t>•  Prep + Live modes</a:t>
            </a:r>
          </a:p>
          <a:p>
            <a:pPr marL="0" lvl="0" indent="0" algn="l">
              <a:lnSpc>
                <a:spcPts val="6159"/>
              </a:lnSpc>
              <a:spcBef>
                <a:spcPct val="0"/>
              </a:spcBef>
            </a:pPr>
            <a:endParaRPr lang="en-US" sz="2799" u="none" strike="noStrike">
              <a:solidFill>
                <a:srgbClr val="C8C8D8"/>
              </a:solidFill>
              <a:latin typeface="Inter"/>
              <a:ea typeface="Inter"/>
              <a:cs typeface="Inter"/>
              <a:sym typeface="Inter"/>
            </a:endParaRPr>
          </a:p>
          <a:p>
            <a:pPr marL="0" lvl="0" indent="0" algn="l">
              <a:lnSpc>
                <a:spcPts val="6159"/>
              </a:lnSpc>
              <a:spcBef>
                <a:spcPct val="0"/>
              </a:spcBef>
            </a:pPr>
            <a:r>
              <a:rPr lang="en-US" sz="2799" u="none" strike="noStrike">
                <a:solidFill>
                  <a:srgbClr val="C8C8D8"/>
                </a:solidFill>
                <a:latin typeface="Inter"/>
                <a:ea typeface="Inter"/>
                <a:cs typeface="Inter"/>
                <a:sym typeface="Inter"/>
              </a:rPr>
              <a:t>•  Live tools verified</a:t>
            </a:r>
          </a:p>
          <a:p>
            <a:pPr marL="0" lvl="0" indent="0" algn="l">
              <a:lnSpc>
                <a:spcPts val="6159"/>
              </a:lnSpc>
              <a:spcBef>
                <a:spcPct val="0"/>
              </a:spcBef>
            </a:pPr>
            <a:endParaRPr lang="en-US" sz="2799" u="none" strike="noStrike">
              <a:solidFill>
                <a:srgbClr val="C8C8D8"/>
              </a:solidFill>
              <a:latin typeface="Inter"/>
              <a:ea typeface="Inter"/>
              <a:cs typeface="Inter"/>
              <a:sym typeface="Inter"/>
            </a:endParaRPr>
          </a:p>
          <a:p>
            <a:pPr marL="0" lvl="0" indent="0" algn="l">
              <a:lnSpc>
                <a:spcPts val="6159"/>
              </a:lnSpc>
              <a:spcBef>
                <a:spcPct val="0"/>
              </a:spcBef>
            </a:pPr>
            <a:r>
              <a:rPr lang="en-US" sz="2799" u="none" strike="noStrike">
                <a:solidFill>
                  <a:srgbClr val="C8C8D8"/>
                </a:solidFill>
                <a:latin typeface="Inter"/>
                <a:ea typeface="Inter"/>
                <a:cs typeface="Inter"/>
                <a:sym typeface="Inter"/>
              </a:rPr>
              <a:t>•  Docker + EC2 demo live</a:t>
            </a:r>
          </a:p>
        </p:txBody>
      </p:sp>
      <p:grpSp>
        <p:nvGrpSpPr>
          <p:cNvPr id="10" name="Group 10"/>
          <p:cNvGrpSpPr/>
          <p:nvPr/>
        </p:nvGrpSpPr>
        <p:grpSpPr>
          <a:xfrm>
            <a:off x="6572250" y="1905000"/>
            <a:ext cx="5143500" cy="6096000"/>
            <a:chOff x="0" y="0"/>
            <a:chExt cx="6858000" cy="8128000"/>
          </a:xfrm>
        </p:grpSpPr>
        <p:sp>
          <p:nvSpPr>
            <p:cNvPr id="11" name="Freeform 11"/>
            <p:cNvSpPr/>
            <p:nvPr/>
          </p:nvSpPr>
          <p:spPr>
            <a:xfrm>
              <a:off x="0" y="0"/>
              <a:ext cx="6858000" cy="8128000"/>
            </a:xfrm>
            <a:custGeom>
              <a:avLst/>
              <a:gdLst/>
              <a:ahLst/>
              <a:cxnLst/>
              <a:rect l="l" t="t" r="r" b="b"/>
              <a:pathLst>
                <a:path w="6858000" h="8128000">
                  <a:moveTo>
                    <a:pt x="685800" y="0"/>
                  </a:moveTo>
                  <a:lnTo>
                    <a:pt x="6172200" y="0"/>
                  </a:lnTo>
                  <a:cubicBezTo>
                    <a:pt x="6550957" y="0"/>
                    <a:pt x="6858000" y="262010"/>
                    <a:pt x="6858000" y="585216"/>
                  </a:cubicBezTo>
                  <a:lnTo>
                    <a:pt x="6858000" y="7542784"/>
                  </a:lnTo>
                  <a:cubicBezTo>
                    <a:pt x="6858000" y="7865990"/>
                    <a:pt x="6550957" y="8128000"/>
                    <a:pt x="6172200" y="8128000"/>
                  </a:cubicBezTo>
                  <a:lnTo>
                    <a:pt x="685800" y="8128000"/>
                  </a:lnTo>
                  <a:cubicBezTo>
                    <a:pt x="307043" y="8128000"/>
                    <a:pt x="0" y="7865990"/>
                    <a:pt x="0" y="7542784"/>
                  </a:cubicBezTo>
                  <a:lnTo>
                    <a:pt x="0" y="585216"/>
                  </a:lnTo>
                  <a:cubicBezTo>
                    <a:pt x="0" y="262010"/>
                    <a:pt x="307043" y="0"/>
                    <a:pt x="685800" y="0"/>
                  </a:cubicBezTo>
                  <a:close/>
                </a:path>
              </a:pathLst>
            </a:custGeom>
            <a:solidFill>
              <a:srgbClr val="1A1A2E">
                <a:alpha val="80000"/>
              </a:srgbClr>
            </a:solidFill>
            <a:ln w="9525" cap="sq">
              <a:solidFill>
                <a:srgbClr val="FF98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12" name="TextBox 12"/>
          <p:cNvSpPr txBox="1"/>
          <p:nvPr/>
        </p:nvSpPr>
        <p:spPr>
          <a:xfrm>
            <a:off x="6762750" y="2057400"/>
            <a:ext cx="4762500" cy="4095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3079"/>
              </a:lnSpc>
              <a:spcBef>
                <a:spcPct val="0"/>
              </a:spcBef>
            </a:pPr>
            <a:r>
              <a:rPr lang="en-US" sz="2199" u="none" strike="noStrike">
                <a:solidFill>
                  <a:srgbClr val="FF9800"/>
                </a:solidFill>
                <a:latin typeface="Telegraf"/>
                <a:ea typeface="Telegraf"/>
                <a:cs typeface="Telegraf"/>
                <a:sym typeface="Telegraf"/>
              </a:rPr>
              <a:t>⚠️  CHALLENGES</a:t>
            </a:r>
          </a:p>
        </p:txBody>
      </p:sp>
      <p:sp>
        <p:nvSpPr>
          <p:cNvPr id="13" name="AutoShape 13"/>
          <p:cNvSpPr/>
          <p:nvPr/>
        </p:nvSpPr>
        <p:spPr>
          <a:xfrm>
            <a:off x="6762750" y="2524125"/>
            <a:ext cx="4762500" cy="0"/>
          </a:xfrm>
          <a:prstGeom prst="line">
            <a:avLst/>
          </a:prstGeom>
          <a:ln w="9525" cap="rnd">
            <a:solidFill>
              <a:srgbClr val="FF9800">
                <a:alpha val="49804"/>
              </a:srgbClr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US"/>
          </a:p>
        </p:txBody>
      </p:sp>
      <p:sp>
        <p:nvSpPr>
          <p:cNvPr id="14" name="TextBox 14"/>
          <p:cNvSpPr txBox="1"/>
          <p:nvPr/>
        </p:nvSpPr>
        <p:spPr>
          <a:xfrm>
            <a:off x="6810375" y="2390775"/>
            <a:ext cx="4667250" cy="545130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lvl="0">
              <a:lnSpc>
                <a:spcPts val="6159"/>
              </a:lnSpc>
              <a:spcBef>
                <a:spcPct val="0"/>
              </a:spcBef>
            </a:pPr>
            <a:r>
              <a:rPr lang="en-US" sz="2799" u="none" strike="noStrike" dirty="0">
                <a:solidFill>
                  <a:srgbClr val="C8C8D8"/>
                </a:solidFill>
                <a:latin typeface="Inter"/>
                <a:ea typeface="Inter"/>
                <a:cs typeface="Inter"/>
                <a:sym typeface="Inter"/>
              </a:rPr>
              <a:t>• </a:t>
            </a:r>
            <a:r>
              <a:rPr lang="en-US" sz="2799" dirty="0">
                <a:solidFill>
                  <a:srgbClr val="C8C8D8"/>
                </a:solidFill>
                <a:latin typeface="Inter"/>
                <a:ea typeface="Inter"/>
                <a:cs typeface="Inter"/>
                <a:sym typeface="Inter"/>
              </a:rPr>
              <a:t>KB vs tool routing</a:t>
            </a:r>
            <a:endParaRPr lang="en-US" sz="2799" u="none" strike="noStrike" dirty="0">
              <a:solidFill>
                <a:srgbClr val="C8C8D8"/>
              </a:solidFill>
              <a:latin typeface="Inter"/>
              <a:ea typeface="Inter"/>
              <a:cs typeface="Inter"/>
              <a:sym typeface="Inter"/>
            </a:endParaRPr>
          </a:p>
          <a:p>
            <a:pPr marL="0" lvl="0" indent="0" algn="l">
              <a:lnSpc>
                <a:spcPts val="6159"/>
              </a:lnSpc>
              <a:spcBef>
                <a:spcPct val="0"/>
              </a:spcBef>
            </a:pPr>
            <a:endParaRPr lang="en-US" sz="2799" u="none" strike="noStrike" dirty="0">
              <a:solidFill>
                <a:srgbClr val="C8C8D8"/>
              </a:solidFill>
              <a:latin typeface="Inter"/>
              <a:ea typeface="Inter"/>
              <a:cs typeface="Inter"/>
              <a:sym typeface="Inter"/>
            </a:endParaRPr>
          </a:p>
          <a:p>
            <a:pPr marL="0" lvl="0" indent="0" algn="l">
              <a:lnSpc>
                <a:spcPts val="6159"/>
              </a:lnSpc>
              <a:spcBef>
                <a:spcPct val="0"/>
              </a:spcBef>
            </a:pPr>
            <a:r>
              <a:rPr lang="en-US" sz="2799" u="none" strike="noStrike" dirty="0">
                <a:solidFill>
                  <a:srgbClr val="C8C8D8"/>
                </a:solidFill>
                <a:latin typeface="Inter"/>
                <a:ea typeface="Inter"/>
                <a:cs typeface="Inter"/>
                <a:sym typeface="Inter"/>
              </a:rPr>
              <a:t>•  Prep/Live format rules</a:t>
            </a:r>
          </a:p>
          <a:p>
            <a:pPr marL="0" lvl="0" indent="0" algn="l">
              <a:lnSpc>
                <a:spcPts val="6159"/>
              </a:lnSpc>
              <a:spcBef>
                <a:spcPct val="0"/>
              </a:spcBef>
            </a:pPr>
            <a:endParaRPr lang="en-US" sz="2799" u="none" strike="noStrike" dirty="0">
              <a:solidFill>
                <a:srgbClr val="C8C8D8"/>
              </a:solidFill>
              <a:latin typeface="Inter"/>
              <a:ea typeface="Inter"/>
              <a:cs typeface="Inter"/>
              <a:sym typeface="Inter"/>
            </a:endParaRPr>
          </a:p>
          <a:p>
            <a:pPr lvl="0">
              <a:lnSpc>
                <a:spcPts val="6159"/>
              </a:lnSpc>
              <a:spcBef>
                <a:spcPct val="0"/>
              </a:spcBef>
            </a:pPr>
            <a:r>
              <a:rPr lang="en-US" sz="2799" u="none" strike="noStrike" dirty="0">
                <a:solidFill>
                  <a:srgbClr val="C8C8D8"/>
                </a:solidFill>
                <a:latin typeface="Inter"/>
                <a:ea typeface="Inter"/>
                <a:cs typeface="Inter"/>
                <a:sym typeface="Inter"/>
              </a:rPr>
              <a:t>•</a:t>
            </a:r>
            <a:r>
              <a:rPr lang="en-US" sz="2799" dirty="0">
                <a:solidFill>
                  <a:srgbClr val="C8C8D8"/>
                </a:solidFill>
                <a:latin typeface="Inter"/>
                <a:ea typeface="Inter"/>
                <a:cs typeface="Inter"/>
                <a:sym typeface="Inter"/>
              </a:rPr>
              <a:t> Orchestration latency</a:t>
            </a:r>
            <a:endParaRPr lang="en-US" sz="2799" u="none" strike="noStrike" dirty="0">
              <a:solidFill>
                <a:srgbClr val="C8C8D8"/>
              </a:solidFill>
              <a:latin typeface="Inter"/>
              <a:ea typeface="Inter"/>
              <a:cs typeface="Inter"/>
              <a:sym typeface="Inter"/>
            </a:endParaRPr>
          </a:p>
          <a:p>
            <a:pPr marL="0" lvl="0" indent="0" algn="l">
              <a:lnSpc>
                <a:spcPts val="6159"/>
              </a:lnSpc>
              <a:spcBef>
                <a:spcPct val="0"/>
              </a:spcBef>
            </a:pPr>
            <a:endParaRPr lang="en-US" sz="2799" u="none" strike="noStrike" dirty="0">
              <a:solidFill>
                <a:srgbClr val="C8C8D8"/>
              </a:solidFill>
              <a:latin typeface="Inter"/>
              <a:ea typeface="Inter"/>
              <a:cs typeface="Inter"/>
              <a:sym typeface="Inter"/>
            </a:endParaRPr>
          </a:p>
          <a:p>
            <a:pPr marL="0" lvl="0" indent="0" algn="l">
              <a:lnSpc>
                <a:spcPts val="6159"/>
              </a:lnSpc>
              <a:spcBef>
                <a:spcPct val="0"/>
              </a:spcBef>
            </a:pPr>
            <a:endParaRPr lang="en-US" sz="2799" u="none" strike="noStrike" dirty="0">
              <a:solidFill>
                <a:srgbClr val="C8C8D8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grpSp>
        <p:nvGrpSpPr>
          <p:cNvPr id="15" name="Group 15"/>
          <p:cNvGrpSpPr/>
          <p:nvPr/>
        </p:nvGrpSpPr>
        <p:grpSpPr>
          <a:xfrm>
            <a:off x="12096750" y="1905000"/>
            <a:ext cx="5143500" cy="6096000"/>
            <a:chOff x="0" y="0"/>
            <a:chExt cx="6858000" cy="8128000"/>
          </a:xfrm>
        </p:grpSpPr>
        <p:sp>
          <p:nvSpPr>
            <p:cNvPr id="16" name="Freeform 16"/>
            <p:cNvSpPr/>
            <p:nvPr/>
          </p:nvSpPr>
          <p:spPr>
            <a:xfrm>
              <a:off x="0" y="0"/>
              <a:ext cx="6858000" cy="8128000"/>
            </a:xfrm>
            <a:custGeom>
              <a:avLst/>
              <a:gdLst/>
              <a:ahLst/>
              <a:cxnLst/>
              <a:rect l="l" t="t" r="r" b="b"/>
              <a:pathLst>
                <a:path w="6858000" h="8128000">
                  <a:moveTo>
                    <a:pt x="685800" y="0"/>
                  </a:moveTo>
                  <a:lnTo>
                    <a:pt x="6172200" y="0"/>
                  </a:lnTo>
                  <a:cubicBezTo>
                    <a:pt x="6550957" y="0"/>
                    <a:pt x="6858000" y="262010"/>
                    <a:pt x="6858000" y="585216"/>
                  </a:cubicBezTo>
                  <a:lnTo>
                    <a:pt x="6858000" y="7542784"/>
                  </a:lnTo>
                  <a:cubicBezTo>
                    <a:pt x="6858000" y="7865990"/>
                    <a:pt x="6550957" y="8128000"/>
                    <a:pt x="6172200" y="8128000"/>
                  </a:cubicBezTo>
                  <a:lnTo>
                    <a:pt x="685800" y="8128000"/>
                  </a:lnTo>
                  <a:cubicBezTo>
                    <a:pt x="307043" y="8128000"/>
                    <a:pt x="0" y="7865990"/>
                    <a:pt x="0" y="7542784"/>
                  </a:cubicBezTo>
                  <a:lnTo>
                    <a:pt x="0" y="585216"/>
                  </a:lnTo>
                  <a:cubicBezTo>
                    <a:pt x="0" y="262010"/>
                    <a:pt x="307043" y="0"/>
                    <a:pt x="685800" y="0"/>
                  </a:cubicBezTo>
                  <a:close/>
                </a:path>
              </a:pathLst>
            </a:custGeom>
            <a:solidFill>
              <a:srgbClr val="1A1A2E">
                <a:alpha val="80000"/>
              </a:srgbClr>
            </a:solidFill>
            <a:ln w="9525" cap="sq">
              <a:solidFill>
                <a:srgbClr val="AB47BC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17" name="TextBox 17"/>
          <p:cNvSpPr txBox="1"/>
          <p:nvPr/>
        </p:nvSpPr>
        <p:spPr>
          <a:xfrm>
            <a:off x="12287250" y="2057400"/>
            <a:ext cx="4762500" cy="4095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3079"/>
              </a:lnSpc>
              <a:spcBef>
                <a:spcPct val="0"/>
              </a:spcBef>
            </a:pPr>
            <a:r>
              <a:rPr lang="en-US" sz="2199" u="none" strike="noStrike">
                <a:solidFill>
                  <a:srgbClr val="AB47BC"/>
                </a:solidFill>
                <a:latin typeface="Telegraf"/>
                <a:ea typeface="Telegraf"/>
                <a:cs typeface="Telegraf"/>
                <a:sym typeface="Telegraf"/>
              </a:rPr>
              <a:t>🚀  NEXT STEPS</a:t>
            </a:r>
          </a:p>
        </p:txBody>
      </p:sp>
      <p:sp>
        <p:nvSpPr>
          <p:cNvPr id="18" name="AutoShape 18"/>
          <p:cNvSpPr/>
          <p:nvPr/>
        </p:nvSpPr>
        <p:spPr>
          <a:xfrm>
            <a:off x="12287250" y="2524125"/>
            <a:ext cx="4762500" cy="0"/>
          </a:xfrm>
          <a:prstGeom prst="line">
            <a:avLst/>
          </a:prstGeom>
          <a:ln w="9525" cap="rnd">
            <a:solidFill>
              <a:srgbClr val="AB47BC">
                <a:alpha val="49804"/>
              </a:srgbClr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US"/>
          </a:p>
        </p:txBody>
      </p:sp>
      <p:sp>
        <p:nvSpPr>
          <p:cNvPr id="19" name="TextBox 19"/>
          <p:cNvSpPr txBox="1"/>
          <p:nvPr/>
        </p:nvSpPr>
        <p:spPr>
          <a:xfrm>
            <a:off x="12287250" y="2390775"/>
            <a:ext cx="4667250" cy="382905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6159"/>
              </a:lnSpc>
              <a:spcBef>
                <a:spcPct val="0"/>
              </a:spcBef>
            </a:pPr>
            <a:r>
              <a:rPr lang="en-US" sz="2799" u="none" strike="noStrike">
                <a:solidFill>
                  <a:srgbClr val="C8C8D8"/>
                </a:solidFill>
                <a:latin typeface="Inter"/>
                <a:ea typeface="Inter"/>
                <a:cs typeface="Inter"/>
                <a:sym typeface="Inter"/>
              </a:rPr>
              <a:t>•  Authentication</a:t>
            </a:r>
          </a:p>
          <a:p>
            <a:pPr marL="0" lvl="0" indent="0" algn="l">
              <a:lnSpc>
                <a:spcPts val="6159"/>
              </a:lnSpc>
              <a:spcBef>
                <a:spcPct val="0"/>
              </a:spcBef>
            </a:pPr>
            <a:endParaRPr lang="en-US" sz="2799" u="none" strike="noStrike">
              <a:solidFill>
                <a:srgbClr val="C8C8D8"/>
              </a:solidFill>
              <a:latin typeface="Inter"/>
              <a:ea typeface="Inter"/>
              <a:cs typeface="Inter"/>
              <a:sym typeface="Inter"/>
            </a:endParaRPr>
          </a:p>
          <a:p>
            <a:pPr marL="0" lvl="0" indent="0" algn="l">
              <a:lnSpc>
                <a:spcPts val="6159"/>
              </a:lnSpc>
              <a:spcBef>
                <a:spcPct val="0"/>
              </a:spcBef>
            </a:pPr>
            <a:r>
              <a:rPr lang="en-US" sz="2799" u="none" strike="noStrike">
                <a:solidFill>
                  <a:srgbClr val="C8C8D8"/>
                </a:solidFill>
                <a:latin typeface="Inter"/>
                <a:ea typeface="Inter"/>
                <a:cs typeface="Inter"/>
                <a:sym typeface="Inter"/>
              </a:rPr>
              <a:t>•  Voice-to-text</a:t>
            </a:r>
          </a:p>
          <a:p>
            <a:pPr marL="0" lvl="0" indent="0" algn="l">
              <a:lnSpc>
                <a:spcPts val="6159"/>
              </a:lnSpc>
              <a:spcBef>
                <a:spcPct val="0"/>
              </a:spcBef>
            </a:pPr>
            <a:endParaRPr lang="en-US" sz="2799" u="none" strike="noStrike">
              <a:solidFill>
                <a:srgbClr val="C8C8D8"/>
              </a:solidFill>
              <a:latin typeface="Inter"/>
              <a:ea typeface="Inter"/>
              <a:cs typeface="Inter"/>
              <a:sym typeface="Inter"/>
            </a:endParaRPr>
          </a:p>
          <a:p>
            <a:pPr marL="0" lvl="0" indent="0" algn="l">
              <a:lnSpc>
                <a:spcPts val="6159"/>
              </a:lnSpc>
              <a:spcBef>
                <a:spcPct val="0"/>
              </a:spcBef>
            </a:pPr>
            <a:r>
              <a:rPr lang="en-US" sz="2799" u="none" strike="noStrike">
                <a:solidFill>
                  <a:srgbClr val="C8C8D8"/>
                </a:solidFill>
                <a:latin typeface="Inter"/>
                <a:ea typeface="Inter"/>
                <a:cs typeface="Inter"/>
                <a:sym typeface="Inter"/>
              </a:rPr>
              <a:t>•  Manager dashboard</a:t>
            </a:r>
          </a:p>
        </p:txBody>
      </p:sp>
      <p:sp>
        <p:nvSpPr>
          <p:cNvPr id="20" name="TextBox 20"/>
          <p:cNvSpPr txBox="1"/>
          <p:nvPr/>
        </p:nvSpPr>
        <p:spPr>
          <a:xfrm>
            <a:off x="3429000" y="8343900"/>
            <a:ext cx="11430000" cy="3143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2520"/>
              </a:lnSpc>
              <a:spcBef>
                <a:spcPct val="0"/>
              </a:spcBef>
            </a:pPr>
            <a:r>
              <a:rPr lang="en-US" sz="1800" u="none" strike="noStrike">
                <a:solidFill>
                  <a:srgbClr val="A0A0B8"/>
                </a:solidFill>
                <a:latin typeface="Inter"/>
                <a:ea typeface="Inter"/>
                <a:cs typeface="Inter"/>
                <a:sym typeface="Inter"/>
              </a:rPr>
              <a:t>RepReady is live, grounded, and ready to scale.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662</Words>
  <Application>Microsoft Office PowerPoint</Application>
  <PresentationFormat>Custom</PresentationFormat>
  <Paragraphs>136</Paragraphs>
  <Slides>7</Slides>
  <Notes>0</Notes>
  <HiddenSlides>0</HiddenSlides>
  <MMClips>1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3" baseType="lpstr">
      <vt:lpstr>Inter</vt:lpstr>
      <vt:lpstr>Calibri</vt:lpstr>
      <vt:lpstr>Telegraf</vt:lpstr>
      <vt:lpstr>Arial</vt:lpstr>
      <vt:lpstr>Inter Bold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Clean Professional App Pitch Deck</dc:title>
  <dc:creator>Ido Avraham</dc:creator>
  <cp:lastModifiedBy>Ido Avraham</cp:lastModifiedBy>
  <cp:revision>4</cp:revision>
  <dcterms:created xsi:type="dcterms:W3CDTF">2006-08-16T00:00:00Z</dcterms:created>
  <dcterms:modified xsi:type="dcterms:W3CDTF">2026-06-09T10:36:13Z</dcterms:modified>
  <dc:identifier>DAHMEOjqJTY</dc:identifier>
</cp:coreProperties>
</file>